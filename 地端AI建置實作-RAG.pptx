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741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3B86936-0FD9-4D3A-9FB4-5584E5BBE24B}"/>
              </a:ext>
            </a:extLst>
          </p:cNvPr>
          <p:cNvSpPr>
            <a:spLocks noGrp="1"/>
          </p:cNvSpPr>
          <p:nvPr/>
        </p:nvSpPr>
        <p:spPr>
          <a:xfrm>
            <a:off x="2667000" y="1200150"/>
            <a:ext cx="6858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課堂操作簡報｜單元 05～09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E83D2FF-DFA8-48D7-A990-DE948CDEB0AD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10477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5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Windows 11</a:t>
            </a:r>
          </a:p>
          <a:p>
            <a:pPr algn="ctr">
              <a:buNone/>
              <a:defRPr sz="5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個人</a:t>
            </a:r>
            <a:r>
              <a:rPr sz="51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 RAG </a:t>
            </a:r>
            <a:r>
              <a:rPr sz="5100" b="1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實作</a:t>
            </a:r>
            <a:endParaRPr sz="5100" b="1" dirty="0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A330F3-5CD0-4727-9E19-E0CEA3269C18}"/>
              </a:ext>
            </a:extLst>
          </p:cNvPr>
          <p:cNvSpPr>
            <a:spLocks noGrp="1"/>
          </p:cNvSpPr>
          <p:nvPr/>
        </p:nvSpPr>
        <p:spPr>
          <a:xfrm>
            <a:off x="1809750" y="4819650"/>
            <a:ext cx="8572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0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從建立知識庫，到查核、維護、備份與成果驗收</a:t>
            </a:r>
          </a:p>
        </p:txBody>
      </p:sp>
    </p:spTree>
    <p:extLst>
      <p:ext uri="{BB962C8B-B14F-4D97-AF65-F5344CB8AC3E}">
        <p14:creationId xmlns:p14="http://schemas.microsoft.com/office/powerpoint/2010/main" val="1432747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ED8E510-069B-4839-9F69-145428E9C556}"/>
              </a:ext>
            </a:extLst>
          </p:cNvPr>
          <p:cNvSpPr>
            <a:spLocks noGrp="1"/>
          </p:cNvSpPr>
          <p:nvPr/>
        </p:nvSpPr>
        <p:spPr>
          <a:xfrm>
            <a:off x="0" y="742950"/>
            <a:ext cx="12192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課程目標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45B9E53-CDA5-4F73-8325-657EF2A5285F}"/>
              </a:ext>
            </a:extLst>
          </p:cNvPr>
          <p:cNvSpPr>
            <a:spLocks noGrp="1"/>
          </p:cNvSpPr>
          <p:nvPr/>
        </p:nvSpPr>
        <p:spPr>
          <a:xfrm>
            <a:off x="1143000" y="1524000"/>
            <a:ext cx="990600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讓本機</a:t>
            </a:r>
            <a:r>
              <a:rPr sz="54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 AI</a:t>
            </a:r>
          </a:p>
          <a:p>
            <a:pPr algn="ctr">
              <a:buNone/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能依自己的文件回答</a:t>
            </a:r>
            <a:endParaRPr sz="5400" b="1" dirty="0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430FAEF-4901-4B39-8E84-9BDED4D826E4}"/>
              </a:ext>
            </a:extLst>
          </p:cNvPr>
          <p:cNvSpPr>
            <a:spLocks noGrp="1"/>
          </p:cNvSpPr>
          <p:nvPr/>
        </p:nvSpPr>
        <p:spPr>
          <a:xfrm>
            <a:off x="2095500" y="3714750"/>
            <a:ext cx="8001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 dirty="0" err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完成後，能建立個人知識庫、查核來源，並維護與備份資料</a:t>
            </a:r>
            <a:endParaRPr sz="2400" b="0" dirty="0">
              <a:solidFill>
                <a:srgbClr val="C8C8C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96920E-F4D8-45A8-B5DD-6470EDF0A10A}"/>
              </a:ext>
            </a:extLst>
          </p:cNvPr>
          <p:cNvSpPr>
            <a:spLocks noGrp="1"/>
          </p:cNvSpPr>
          <p:nvPr/>
        </p:nvSpPr>
        <p:spPr>
          <a:xfrm>
            <a:off x="400050" y="6534150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7AD6E5-2872-4C12-A43A-80DDBFAF10CA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15C6B58-A1FA-43C2-A88A-AB497D685136}"/>
              </a:ext>
            </a:extLst>
          </p:cNvPr>
          <p:cNvSpPr>
            <a:spLocks noGrp="1"/>
          </p:cNvSpPr>
          <p:nvPr/>
        </p:nvSpPr>
        <p:spPr>
          <a:xfrm>
            <a:off x="3143250" y="4953000"/>
            <a:ext cx="590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00" b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本份教材範圍：單元 05～09</a:t>
            </a:r>
          </a:p>
        </p:txBody>
      </p:sp>
    </p:spTree>
    <p:extLst>
      <p:ext uri="{BB962C8B-B14F-4D97-AF65-F5344CB8AC3E}">
        <p14:creationId xmlns:p14="http://schemas.microsoft.com/office/powerpoint/2010/main" val="1194278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F8C86FD1-05FF-454F-A5DE-910CF03A630A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048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單元 05～09 的學習路線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33FBA76-F654-422C-AFF5-452A61AA6C21}"/>
              </a:ext>
            </a:extLst>
          </p:cNvPr>
          <p:cNvSpPr>
            <a:spLocks noGrp="1"/>
          </p:cNvSpPr>
          <p:nvPr/>
        </p:nvSpPr>
        <p:spPr>
          <a:xfrm>
            <a:off x="495300" y="2095500"/>
            <a:ext cx="8191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4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CBB5C5-1723-45EF-8037-D5FEF021EE92}"/>
              </a:ext>
            </a:extLst>
          </p:cNvPr>
          <p:cNvSpPr>
            <a:spLocks noGrp="1"/>
          </p:cNvSpPr>
          <p:nvPr/>
        </p:nvSpPr>
        <p:spPr>
          <a:xfrm>
            <a:off x="1447800" y="211455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建立知識庫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311247-0A11-4765-9D40-6C5CC80B9C7F}"/>
              </a:ext>
            </a:extLst>
          </p:cNvPr>
          <p:cNvSpPr>
            <a:spLocks noGrp="1"/>
          </p:cNvSpPr>
          <p:nvPr/>
        </p:nvSpPr>
        <p:spPr>
          <a:xfrm>
            <a:off x="1447800" y="2599082"/>
            <a:ext cx="2952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7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 dirty="0" err="1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文件、索引與</a:t>
            </a:r>
            <a:r>
              <a:rPr sz="2000" b="0" dirty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 Knowledge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1E782C-EF24-454B-99F0-134BEFA5BA8D}"/>
              </a:ext>
            </a:extLst>
          </p:cNvPr>
          <p:cNvSpPr>
            <a:spLocks noGrp="1"/>
          </p:cNvSpPr>
          <p:nvPr/>
        </p:nvSpPr>
        <p:spPr>
          <a:xfrm>
            <a:off x="4400550" y="2095500"/>
            <a:ext cx="8191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4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D74DD2-EE62-4040-8372-4F0D468F79F2}"/>
              </a:ext>
            </a:extLst>
          </p:cNvPr>
          <p:cNvSpPr>
            <a:spLocks noGrp="1"/>
          </p:cNvSpPr>
          <p:nvPr/>
        </p:nvSpPr>
        <p:spPr>
          <a:xfrm>
            <a:off x="5353050" y="211455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問答與查核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D2A67DE-B84B-488A-A74E-400C7055B19E}"/>
              </a:ext>
            </a:extLst>
          </p:cNvPr>
          <p:cNvSpPr>
            <a:spLocks noGrp="1"/>
          </p:cNvSpPr>
          <p:nvPr/>
        </p:nvSpPr>
        <p:spPr>
          <a:xfrm>
            <a:off x="5353050" y="2599082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檢索、來源與原文比對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9CC0C9A-4EF1-4DB2-9B26-A9C3E4C900E4}"/>
              </a:ext>
            </a:extLst>
          </p:cNvPr>
          <p:cNvSpPr>
            <a:spLocks noGrp="1"/>
          </p:cNvSpPr>
          <p:nvPr/>
        </p:nvSpPr>
        <p:spPr>
          <a:xfrm>
            <a:off x="8305800" y="2095500"/>
            <a:ext cx="8191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4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2C6DA88-8EE7-4090-AF89-92C519C192DF}"/>
              </a:ext>
            </a:extLst>
          </p:cNvPr>
          <p:cNvSpPr>
            <a:spLocks noGrp="1"/>
          </p:cNvSpPr>
          <p:nvPr/>
        </p:nvSpPr>
        <p:spPr>
          <a:xfrm>
            <a:off x="9258300" y="211455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更新與維護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02B4D50-6B90-4E7A-936D-C7826697342D}"/>
              </a:ext>
            </a:extLst>
          </p:cNvPr>
          <p:cNvSpPr>
            <a:spLocks noGrp="1"/>
          </p:cNvSpPr>
          <p:nvPr/>
        </p:nvSpPr>
        <p:spPr>
          <a:xfrm>
            <a:off x="9258300" y="2599082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版本替換與舊檔移除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00D45B-CA17-4BBE-B743-5DD90A60C846}"/>
              </a:ext>
            </a:extLst>
          </p:cNvPr>
          <p:cNvSpPr>
            <a:spLocks noGrp="1"/>
          </p:cNvSpPr>
          <p:nvPr/>
        </p:nvSpPr>
        <p:spPr>
          <a:xfrm>
            <a:off x="2447925" y="4048125"/>
            <a:ext cx="8191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4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2E2DB1D-98F0-4494-8810-C4D2D2680D07}"/>
              </a:ext>
            </a:extLst>
          </p:cNvPr>
          <p:cNvSpPr>
            <a:spLocks noGrp="1"/>
          </p:cNvSpPr>
          <p:nvPr/>
        </p:nvSpPr>
        <p:spPr>
          <a:xfrm>
            <a:off x="3400425" y="4067175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備份與還原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CB76795-D2B0-4F27-9F80-624EF5A61E53}"/>
              </a:ext>
            </a:extLst>
          </p:cNvPr>
          <p:cNvSpPr>
            <a:spLocks noGrp="1"/>
          </p:cNvSpPr>
          <p:nvPr/>
        </p:nvSpPr>
        <p:spPr>
          <a:xfrm>
            <a:off x="3400425" y="4551707"/>
            <a:ext cx="281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7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 dirty="0" err="1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停止、備份、還原與移除</a:t>
            </a:r>
            <a:endParaRPr sz="2000" b="0" dirty="0">
              <a:solidFill>
                <a:srgbClr val="8E8E8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4E1F6F4-4E1A-4D31-A371-8B5270AC1CA4}"/>
              </a:ext>
            </a:extLst>
          </p:cNvPr>
          <p:cNvSpPr>
            <a:spLocks noGrp="1"/>
          </p:cNvSpPr>
          <p:nvPr/>
        </p:nvSpPr>
        <p:spPr>
          <a:xfrm>
            <a:off x="6353175" y="4048125"/>
            <a:ext cx="8191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4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7F40BE7-490F-41AE-B49A-6BD44E96F10E}"/>
              </a:ext>
            </a:extLst>
          </p:cNvPr>
          <p:cNvSpPr>
            <a:spLocks noGrp="1"/>
          </p:cNvSpPr>
          <p:nvPr/>
        </p:nvSpPr>
        <p:spPr>
          <a:xfrm>
            <a:off x="7305675" y="4067175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成果驗收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085587-2375-4326-869A-612B5C54592D}"/>
              </a:ext>
            </a:extLst>
          </p:cNvPr>
          <p:cNvSpPr>
            <a:spLocks noGrp="1"/>
          </p:cNvSpPr>
          <p:nvPr/>
        </p:nvSpPr>
        <p:spPr>
          <a:xfrm>
            <a:off x="7305675" y="4551707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服務、回答與離線使用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8183FF1-E2C9-4E99-9BC3-8D5276AF55B7}"/>
              </a:ext>
            </a:extLst>
          </p:cNvPr>
          <p:cNvSpPr>
            <a:spLocks noGrp="1"/>
          </p:cNvSpPr>
          <p:nvPr/>
        </p:nvSpPr>
        <p:spPr>
          <a:xfrm>
            <a:off x="400050" y="6534150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363E74F-A1EC-49BA-A447-876951E8EEB1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2982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3D730552-9A0A-4F80-9DE9-9B334A87BB2C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從文件到可驗收的個人 RAG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61E8DEB-24C5-4EA5-98F3-B2D1AA1F39A2}"/>
              </a:ext>
            </a:extLst>
          </p:cNvPr>
          <p:cNvSpPr>
            <a:spLocks noGrp="1"/>
          </p:cNvSpPr>
          <p:nvPr/>
        </p:nvSpPr>
        <p:spPr>
          <a:xfrm>
            <a:off x="400050" y="1104900"/>
            <a:ext cx="8096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每一步都要留下可核對的結果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BA8D42-C055-4A88-A32F-C378DB33FC20}"/>
              </a:ext>
            </a:extLst>
          </p:cNvPr>
          <p:cNvSpPr>
            <a:spLocks noGrp="1"/>
          </p:cNvSpPr>
          <p:nvPr/>
        </p:nvSpPr>
        <p:spPr>
          <a:xfrm>
            <a:off x="476250" y="2152650"/>
            <a:ext cx="762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4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84E9CB3-D1C7-42B4-B964-6D77FB3AA5EF}"/>
              </a:ext>
            </a:extLst>
          </p:cNvPr>
          <p:cNvSpPr>
            <a:spLocks noGrp="1"/>
          </p:cNvSpPr>
          <p:nvPr/>
        </p:nvSpPr>
        <p:spPr>
          <a:xfrm>
            <a:off x="476250" y="3000375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AFC4CF-7EC8-4529-A275-A70E4F3CC4C9}"/>
              </a:ext>
            </a:extLst>
          </p:cNvPr>
          <p:cNvSpPr>
            <a:spLocks noGrp="1"/>
          </p:cNvSpPr>
          <p:nvPr/>
        </p:nvSpPr>
        <p:spPr>
          <a:xfrm>
            <a:off x="476250" y="3619500"/>
            <a:ext cx="190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文件完成索引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E47EE8-FBEB-4C9E-A7F1-58B70AB5E65D}"/>
              </a:ext>
            </a:extLst>
          </p:cNvPr>
          <p:cNvSpPr>
            <a:spLocks noGrp="1"/>
          </p:cNvSpPr>
          <p:nvPr/>
        </p:nvSpPr>
        <p:spPr>
          <a:xfrm>
            <a:off x="2286000" y="2952750"/>
            <a:ext cx="457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55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324844-27D9-48C7-B77A-9D0F243E852A}"/>
              </a:ext>
            </a:extLst>
          </p:cNvPr>
          <p:cNvSpPr>
            <a:spLocks noGrp="1"/>
          </p:cNvSpPr>
          <p:nvPr/>
        </p:nvSpPr>
        <p:spPr>
          <a:xfrm>
            <a:off x="2800350" y="2152650"/>
            <a:ext cx="762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4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93EB3DA-DF86-4198-9522-5E6225DCEE9C}"/>
              </a:ext>
            </a:extLst>
          </p:cNvPr>
          <p:cNvSpPr>
            <a:spLocks noGrp="1"/>
          </p:cNvSpPr>
          <p:nvPr/>
        </p:nvSpPr>
        <p:spPr>
          <a:xfrm>
            <a:off x="2800350" y="3000375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查核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6943FAF-22CC-41AD-82AB-BE25EF3FB13C}"/>
              </a:ext>
            </a:extLst>
          </p:cNvPr>
          <p:cNvSpPr>
            <a:spLocks noGrp="1"/>
          </p:cNvSpPr>
          <p:nvPr/>
        </p:nvSpPr>
        <p:spPr>
          <a:xfrm>
            <a:off x="2800350" y="3619500"/>
            <a:ext cx="190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回答回到原文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F67DD32-8FD5-400F-89BD-3FCD06100ADF}"/>
              </a:ext>
            </a:extLst>
          </p:cNvPr>
          <p:cNvSpPr>
            <a:spLocks noGrp="1"/>
          </p:cNvSpPr>
          <p:nvPr/>
        </p:nvSpPr>
        <p:spPr>
          <a:xfrm>
            <a:off x="4610100" y="2952750"/>
            <a:ext cx="457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55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9802E67-32DB-49F9-8CD9-4C2021B69A0C}"/>
              </a:ext>
            </a:extLst>
          </p:cNvPr>
          <p:cNvSpPr>
            <a:spLocks noGrp="1"/>
          </p:cNvSpPr>
          <p:nvPr/>
        </p:nvSpPr>
        <p:spPr>
          <a:xfrm>
            <a:off x="5124450" y="2152650"/>
            <a:ext cx="762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4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EBECC41-26E8-4DCF-BD75-C4F9C89285ED}"/>
              </a:ext>
            </a:extLst>
          </p:cNvPr>
          <p:cNvSpPr>
            <a:spLocks noGrp="1"/>
          </p:cNvSpPr>
          <p:nvPr/>
        </p:nvSpPr>
        <p:spPr>
          <a:xfrm>
            <a:off x="5124450" y="3000375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更新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F83CCAA-DA6A-4EDD-BFB4-1861ED724DDC}"/>
              </a:ext>
            </a:extLst>
          </p:cNvPr>
          <p:cNvSpPr>
            <a:spLocks noGrp="1"/>
          </p:cNvSpPr>
          <p:nvPr/>
        </p:nvSpPr>
        <p:spPr>
          <a:xfrm>
            <a:off x="5124450" y="3619500"/>
            <a:ext cx="190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新版取代舊版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AC22AE4-18FC-4001-B64A-CC9505AB5012}"/>
              </a:ext>
            </a:extLst>
          </p:cNvPr>
          <p:cNvSpPr>
            <a:spLocks noGrp="1"/>
          </p:cNvSpPr>
          <p:nvPr/>
        </p:nvSpPr>
        <p:spPr>
          <a:xfrm>
            <a:off x="6934200" y="2952750"/>
            <a:ext cx="457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55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2DC56F-7D7B-48EF-A22D-69936E926249}"/>
              </a:ext>
            </a:extLst>
          </p:cNvPr>
          <p:cNvSpPr>
            <a:spLocks noGrp="1"/>
          </p:cNvSpPr>
          <p:nvPr/>
        </p:nvSpPr>
        <p:spPr>
          <a:xfrm>
            <a:off x="7448550" y="2152650"/>
            <a:ext cx="762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4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1E88E9-2340-4991-AFAF-9AFDF9DD737A}"/>
              </a:ext>
            </a:extLst>
          </p:cNvPr>
          <p:cNvSpPr>
            <a:spLocks noGrp="1"/>
          </p:cNvSpPr>
          <p:nvPr/>
        </p:nvSpPr>
        <p:spPr>
          <a:xfrm>
            <a:off x="7448550" y="3000375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備份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C1F4128-8ABA-411D-AD9B-7AB8C96967DF}"/>
              </a:ext>
            </a:extLst>
          </p:cNvPr>
          <p:cNvSpPr>
            <a:spLocks noGrp="1"/>
          </p:cNvSpPr>
          <p:nvPr/>
        </p:nvSpPr>
        <p:spPr>
          <a:xfrm>
            <a:off x="7448550" y="3619500"/>
            <a:ext cx="190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資料可還原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315201B-E041-461D-8A4C-2297A9DAC825}"/>
              </a:ext>
            </a:extLst>
          </p:cNvPr>
          <p:cNvSpPr>
            <a:spLocks noGrp="1"/>
          </p:cNvSpPr>
          <p:nvPr/>
        </p:nvSpPr>
        <p:spPr>
          <a:xfrm>
            <a:off x="9258300" y="2952750"/>
            <a:ext cx="457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55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AD343EC-4D8D-4A34-80DE-7CA199C0DC72}"/>
              </a:ext>
            </a:extLst>
          </p:cNvPr>
          <p:cNvSpPr>
            <a:spLocks noGrp="1"/>
          </p:cNvSpPr>
          <p:nvPr/>
        </p:nvSpPr>
        <p:spPr>
          <a:xfrm>
            <a:off x="9772650" y="2152650"/>
            <a:ext cx="762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4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7B115CD-D683-401E-9A4D-E2D08B58687C}"/>
              </a:ext>
            </a:extLst>
          </p:cNvPr>
          <p:cNvSpPr>
            <a:spLocks noGrp="1"/>
          </p:cNvSpPr>
          <p:nvPr/>
        </p:nvSpPr>
        <p:spPr>
          <a:xfrm>
            <a:off x="9772650" y="3000375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驗收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3EAE406-EEBF-4184-A9C2-9BA6CA417A59}"/>
              </a:ext>
            </a:extLst>
          </p:cNvPr>
          <p:cNvSpPr>
            <a:spLocks noGrp="1"/>
          </p:cNvSpPr>
          <p:nvPr/>
        </p:nvSpPr>
        <p:spPr>
          <a:xfrm>
            <a:off x="9772650" y="3619500"/>
            <a:ext cx="190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離線仍可使用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EDFC706-E378-4D00-860D-6EDFF009F678}"/>
              </a:ext>
            </a:extLst>
          </p:cNvPr>
          <p:cNvSpPr>
            <a:spLocks noGrp="1"/>
          </p:cNvSpPr>
          <p:nvPr/>
        </p:nvSpPr>
        <p:spPr>
          <a:xfrm>
            <a:off x="400050" y="6534150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B65D403-2802-428A-BD79-E9AC536A887B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64339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78708337-8DBA-47D0-9813-7716F100FB99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685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開始前先確認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E57C8D8-C384-414C-8377-40CBEE4DD27B}"/>
              </a:ext>
            </a:extLst>
          </p:cNvPr>
          <p:cNvSpPr>
            <a:spLocks noGrp="1"/>
          </p:cNvSpPr>
          <p:nvPr/>
        </p:nvSpPr>
        <p:spPr>
          <a:xfrm>
            <a:off x="400050" y="16764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準備條件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995B56-83A0-4887-B70F-6D407E4F3ABE}"/>
              </a:ext>
            </a:extLst>
          </p:cNvPr>
          <p:cNvSpPr>
            <a:spLocks noGrp="1"/>
          </p:cNvSpPr>
          <p:nvPr/>
        </p:nvSpPr>
        <p:spPr>
          <a:xfrm>
            <a:off x="400050" y="2324100"/>
            <a:ext cx="5334000" cy="2381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285750" indent="-285750" algn="l">
              <a:lnSpc>
                <a:spcPct val="150000"/>
              </a:lnSpc>
              <a:buFont typeface="Arial"/>
              <a:buChar char="•"/>
              <a:defRPr sz="18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 dirty="0" err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單元</a:t>
            </a:r>
            <a:r>
              <a:rPr sz="2000" b="0" dirty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 00～04 </a:t>
            </a:r>
            <a:r>
              <a:rPr sz="2000" b="0" dirty="0" err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已完成</a:t>
            </a:r>
            <a:endParaRPr sz="2000" b="0" dirty="0">
              <a:solidFill>
                <a:srgbClr val="C8C8C8"/>
              </a:solidFill>
              <a:latin typeface="Microsoft JhengHei"/>
              <a:ea typeface="Microsoft JhengHei"/>
              <a:cs typeface="Microsoft JhengHei"/>
            </a:endParaRPr>
          </a:p>
          <a:p>
            <a:pPr marL="285750" indent="-285750" algn="l">
              <a:lnSpc>
                <a:spcPct val="150000"/>
              </a:lnSpc>
              <a:buFont typeface="Arial"/>
              <a:buChar char="•"/>
              <a:defRPr sz="18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 dirty="0" err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Ollama</a:t>
            </a:r>
            <a:r>
              <a:rPr sz="2000" b="0" dirty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 與 Open </a:t>
            </a:r>
            <a:r>
              <a:rPr sz="2000" b="0" dirty="0" err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WebUI</a:t>
            </a:r>
            <a:r>
              <a:rPr sz="2000" b="0" dirty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000" b="0" dirty="0" err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可啟動</a:t>
            </a:r>
            <a:endParaRPr sz="2000" b="0" dirty="0">
              <a:solidFill>
                <a:srgbClr val="C8C8C8"/>
              </a:solidFill>
              <a:latin typeface="Microsoft JhengHei"/>
              <a:ea typeface="Microsoft JhengHei"/>
              <a:cs typeface="Microsoft JhengHei"/>
            </a:endParaRPr>
          </a:p>
          <a:p>
            <a:pPr marL="285750" indent="-285750" algn="l">
              <a:lnSpc>
                <a:spcPct val="150000"/>
              </a:lnSpc>
              <a:buFont typeface="Arial"/>
              <a:buChar char="•"/>
              <a:defRPr sz="18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 dirty="0" err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對話模型已下載</a:t>
            </a:r>
            <a:endParaRPr sz="2000" b="0" dirty="0">
              <a:solidFill>
                <a:srgbClr val="C8C8C8"/>
              </a:solidFill>
              <a:latin typeface="Microsoft JhengHei"/>
              <a:ea typeface="Microsoft JhengHei"/>
              <a:cs typeface="Microsoft JhengHei"/>
            </a:endParaRPr>
          </a:p>
          <a:p>
            <a:pPr marL="285750" indent="-285750" algn="l">
              <a:lnSpc>
                <a:spcPct val="150000"/>
              </a:lnSpc>
              <a:buFont typeface="Arial"/>
              <a:buChar char="•"/>
              <a:defRPr sz="18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 dirty="0" err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本機保留原始文件</a:t>
            </a:r>
            <a:endParaRPr sz="2000" b="0" dirty="0">
              <a:solidFill>
                <a:srgbClr val="C8C8C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B274C8C-92FD-482F-9C13-DE9C13527757}"/>
              </a:ext>
            </a:extLst>
          </p:cNvPr>
          <p:cNvSpPr>
            <a:spLocks noGrp="1"/>
          </p:cNvSpPr>
          <p:nvPr/>
        </p:nvSpPr>
        <p:spPr>
          <a:xfrm>
            <a:off x="6858000" y="16764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操作原則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109C060-C49B-42CE-8994-850308E3F001}"/>
              </a:ext>
            </a:extLst>
          </p:cNvPr>
          <p:cNvSpPr>
            <a:spLocks noGrp="1"/>
          </p:cNvSpPr>
          <p:nvPr/>
        </p:nvSpPr>
        <p:spPr>
          <a:xfrm>
            <a:off x="6858000" y="2324100"/>
            <a:ext cx="4762500" cy="2381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285750" indent="-285750" algn="l">
              <a:lnSpc>
                <a:spcPct val="150000"/>
              </a:lnSpc>
              <a:buFont typeface="Arial"/>
              <a:buChar char="•"/>
              <a:defRPr sz="18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只使用可信且可辨識版本的文件</a:t>
            </a:r>
          </a:p>
          <a:p>
            <a:pPr marL="285750" indent="-285750" algn="l">
              <a:lnSpc>
                <a:spcPct val="150000"/>
              </a:lnSpc>
              <a:buFont typeface="Arial"/>
              <a:buChar char="•"/>
              <a:defRPr sz="18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等待文件處理完成再提問</a:t>
            </a:r>
          </a:p>
          <a:p>
            <a:pPr marL="285750" indent="-285750" algn="l">
              <a:lnSpc>
                <a:spcPct val="150000"/>
              </a:lnSpc>
              <a:buFont typeface="Arial"/>
              <a:buChar char="•"/>
              <a:defRPr sz="18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回答附來源仍要查核</a:t>
            </a:r>
          </a:p>
          <a:p>
            <a:pPr marL="285750" indent="-285750" algn="l">
              <a:lnSpc>
                <a:spcPct val="150000"/>
              </a:lnSpc>
              <a:buFont typeface="Arial"/>
              <a:buChar char="•"/>
              <a:defRPr sz="18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移除環境留到最後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74C2409-30C5-497C-AA1B-2CDE91E4277D}"/>
              </a:ext>
            </a:extLst>
          </p:cNvPr>
          <p:cNvSpPr>
            <a:spLocks noGrp="1"/>
          </p:cNvSpPr>
          <p:nvPr/>
        </p:nvSpPr>
        <p:spPr>
          <a:xfrm>
            <a:off x="400050" y="6534150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1B18C23-0340-4BE2-B66B-472ABC845438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48681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138AF7BF-128E-4180-9BAD-C5CC42B218FB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8096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單元 05～09 的完成標準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6C12D10-7DFF-48E2-B492-EC539B64A6D6}"/>
              </a:ext>
            </a:extLst>
          </p:cNvPr>
          <p:cNvSpPr>
            <a:spLocks noGrp="1"/>
          </p:cNvSpPr>
          <p:nvPr/>
        </p:nvSpPr>
        <p:spPr>
          <a:xfrm>
            <a:off x="400050" y="1104900"/>
            <a:ext cx="7239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做到這四件事，就完成個人 RAG 實作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864AB8-FA4F-48D9-847A-16217437A918}"/>
              </a:ext>
            </a:extLst>
          </p:cNvPr>
          <p:cNvSpPr>
            <a:spLocks noGrp="1"/>
          </p:cNvSpPr>
          <p:nvPr/>
        </p:nvSpPr>
        <p:spPr>
          <a:xfrm>
            <a:off x="400050" y="2095500"/>
            <a:ext cx="857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4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559EC4-6C42-40F0-B7A5-8FFB146C7B57}"/>
              </a:ext>
            </a:extLst>
          </p:cNvPr>
          <p:cNvSpPr>
            <a:spLocks noGrp="1"/>
          </p:cNvSpPr>
          <p:nvPr/>
        </p:nvSpPr>
        <p:spPr>
          <a:xfrm>
            <a:off x="400050" y="3181350"/>
            <a:ext cx="257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知識庫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55CF0DC-8294-4F83-A6CA-A6BACB35455F}"/>
              </a:ext>
            </a:extLst>
          </p:cNvPr>
          <p:cNvSpPr>
            <a:spLocks noGrp="1"/>
          </p:cNvSpPr>
          <p:nvPr/>
        </p:nvSpPr>
        <p:spPr>
          <a:xfrm>
            <a:off x="400050" y="3905250"/>
            <a:ext cx="25717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文件已完成索引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7BA5688-FA1C-48C3-8748-7A347DD91428}"/>
              </a:ext>
            </a:extLst>
          </p:cNvPr>
          <p:cNvSpPr>
            <a:spLocks noGrp="1"/>
          </p:cNvSpPr>
          <p:nvPr/>
        </p:nvSpPr>
        <p:spPr>
          <a:xfrm>
            <a:off x="3305175" y="2095500"/>
            <a:ext cx="857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4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E9739E6-3FBD-4201-B104-19F372BB70A7}"/>
              </a:ext>
            </a:extLst>
          </p:cNvPr>
          <p:cNvSpPr>
            <a:spLocks noGrp="1"/>
          </p:cNvSpPr>
          <p:nvPr/>
        </p:nvSpPr>
        <p:spPr>
          <a:xfrm>
            <a:off x="3305175" y="3181350"/>
            <a:ext cx="257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引用查核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DE03C0-7A9A-4BC9-80A5-F13962D3BC44}"/>
              </a:ext>
            </a:extLst>
          </p:cNvPr>
          <p:cNvSpPr>
            <a:spLocks noGrp="1"/>
          </p:cNvSpPr>
          <p:nvPr/>
        </p:nvSpPr>
        <p:spPr>
          <a:xfrm>
            <a:off x="3305175" y="3905250"/>
            <a:ext cx="25717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回答可回到原文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672084-C5AE-44E7-BBAD-42F7295D8AF2}"/>
              </a:ext>
            </a:extLst>
          </p:cNvPr>
          <p:cNvSpPr>
            <a:spLocks noGrp="1"/>
          </p:cNvSpPr>
          <p:nvPr/>
        </p:nvSpPr>
        <p:spPr>
          <a:xfrm>
            <a:off x="6210300" y="2095500"/>
            <a:ext cx="857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4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488EA76-8CED-4F19-95BF-1D7174DDFB6C}"/>
              </a:ext>
            </a:extLst>
          </p:cNvPr>
          <p:cNvSpPr>
            <a:spLocks noGrp="1"/>
          </p:cNvSpPr>
          <p:nvPr/>
        </p:nvSpPr>
        <p:spPr>
          <a:xfrm>
            <a:off x="6210300" y="3181350"/>
            <a:ext cx="257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資料維護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94E260-6B10-49DF-BD5E-229696A15F40}"/>
              </a:ext>
            </a:extLst>
          </p:cNvPr>
          <p:cNvSpPr>
            <a:spLocks noGrp="1"/>
          </p:cNvSpPr>
          <p:nvPr/>
        </p:nvSpPr>
        <p:spPr>
          <a:xfrm>
            <a:off x="6210300" y="3905250"/>
            <a:ext cx="25717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新版已取代舊版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B4EFFA-693F-47FE-80A7-23EE953745D2}"/>
              </a:ext>
            </a:extLst>
          </p:cNvPr>
          <p:cNvSpPr>
            <a:spLocks noGrp="1"/>
          </p:cNvSpPr>
          <p:nvPr/>
        </p:nvSpPr>
        <p:spPr>
          <a:xfrm>
            <a:off x="9115425" y="2095500"/>
            <a:ext cx="857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4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8066574-BCAD-44ED-B28F-180379931034}"/>
              </a:ext>
            </a:extLst>
          </p:cNvPr>
          <p:cNvSpPr>
            <a:spLocks noGrp="1"/>
          </p:cNvSpPr>
          <p:nvPr/>
        </p:nvSpPr>
        <p:spPr>
          <a:xfrm>
            <a:off x="9115425" y="3181350"/>
            <a:ext cx="257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備份驗收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2C5CA0E-22CB-4F7A-BE96-040824174487}"/>
              </a:ext>
            </a:extLst>
          </p:cNvPr>
          <p:cNvSpPr>
            <a:spLocks noGrp="1"/>
          </p:cNvSpPr>
          <p:nvPr/>
        </p:nvSpPr>
        <p:spPr>
          <a:xfrm>
            <a:off x="9115425" y="3905250"/>
            <a:ext cx="25717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資料可還原並離線使用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195EF39-6400-4CCD-9CFE-4D130CD669DE}"/>
              </a:ext>
            </a:extLst>
          </p:cNvPr>
          <p:cNvSpPr>
            <a:spLocks noGrp="1"/>
          </p:cNvSpPr>
          <p:nvPr/>
        </p:nvSpPr>
        <p:spPr>
          <a:xfrm>
            <a:off x="400050" y="6534150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0F9BE08-7337-4E6C-8FF4-FB72DF3B4F6B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91717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D9546119-8060-45B4-8AB4-308649B22EDD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RAG 先找資料，再產生回答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7516B7F-E51E-488A-99F3-94B38A26808C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建立知識庫 · 01/34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5215E2F8-37B4-455F-918F-E4C484F131E1}"/>
              </a:ext>
            </a:extLst>
          </p:cNvPr>
          <p:cNvSpPr>
            <a:spLocks noGrp="1"/>
          </p:cNvSpPr>
          <p:nvPr/>
        </p:nvSpPr>
        <p:spPr>
          <a:xfrm>
            <a:off x="457200" y="2190750"/>
            <a:ext cx="2476500" cy="1809750"/>
          </a:xfrm>
          <a:prstGeom prst="roundRect">
            <a:avLst>
              <a:gd name="adj" fmla="val 6316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E239C4-6206-4BD4-BC38-29063802B1C8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666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D85688-3B25-43C9-9057-5CCF24BA7D30}"/>
              </a:ext>
            </a:extLst>
          </p:cNvPr>
          <p:cNvSpPr>
            <a:spLocks noGrp="1"/>
          </p:cNvSpPr>
          <p:nvPr/>
        </p:nvSpPr>
        <p:spPr>
          <a:xfrm>
            <a:off x="685800" y="3028950"/>
            <a:ext cx="2019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提出問題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E39D6B-A334-4DCB-99CF-97C3E734389F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20193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指定主題與範圍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63D094-0703-412D-9872-BF923237DC6E}"/>
              </a:ext>
            </a:extLst>
          </p:cNvPr>
          <p:cNvSpPr>
            <a:spLocks noGrp="1"/>
          </p:cNvSpPr>
          <p:nvPr/>
        </p:nvSpPr>
        <p:spPr>
          <a:xfrm>
            <a:off x="2952750" y="2809875"/>
            <a:ext cx="4000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40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B18B5969-2164-4281-80C8-A7B45CE20761}"/>
              </a:ext>
            </a:extLst>
          </p:cNvPr>
          <p:cNvSpPr>
            <a:spLocks noGrp="1"/>
          </p:cNvSpPr>
          <p:nvPr/>
        </p:nvSpPr>
        <p:spPr>
          <a:xfrm>
            <a:off x="3352800" y="2190750"/>
            <a:ext cx="2476500" cy="1809750"/>
          </a:xfrm>
          <a:prstGeom prst="roundRect">
            <a:avLst>
              <a:gd name="adj" fmla="val 6316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58B4977-734D-4CF4-B38C-0531B3F5E9FA}"/>
              </a:ext>
            </a:extLst>
          </p:cNvPr>
          <p:cNvSpPr>
            <a:spLocks noGrp="1"/>
          </p:cNvSpPr>
          <p:nvPr/>
        </p:nvSpPr>
        <p:spPr>
          <a:xfrm>
            <a:off x="3581400" y="2381250"/>
            <a:ext cx="666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ACDF6A7-4ACE-4E3B-B27E-8C11248D4A65}"/>
              </a:ext>
            </a:extLst>
          </p:cNvPr>
          <p:cNvSpPr>
            <a:spLocks noGrp="1"/>
          </p:cNvSpPr>
          <p:nvPr/>
        </p:nvSpPr>
        <p:spPr>
          <a:xfrm>
            <a:off x="3581400" y="3028950"/>
            <a:ext cx="2019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檢索內容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B22E24C-53AD-4A9B-9229-C4AC471AFD56}"/>
              </a:ext>
            </a:extLst>
          </p:cNvPr>
          <p:cNvSpPr>
            <a:spLocks noGrp="1"/>
          </p:cNvSpPr>
          <p:nvPr/>
        </p:nvSpPr>
        <p:spPr>
          <a:xfrm>
            <a:off x="3581400" y="3562350"/>
            <a:ext cx="20193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從索引找相關段落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7976616-CA9A-4D48-B991-126F5B33A587}"/>
              </a:ext>
            </a:extLst>
          </p:cNvPr>
          <p:cNvSpPr>
            <a:spLocks noGrp="1"/>
          </p:cNvSpPr>
          <p:nvPr/>
        </p:nvSpPr>
        <p:spPr>
          <a:xfrm>
            <a:off x="5848350" y="2809875"/>
            <a:ext cx="4000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40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8CC095B8-D80C-4B90-B16C-8B490005A9B4}"/>
              </a:ext>
            </a:extLst>
          </p:cNvPr>
          <p:cNvSpPr>
            <a:spLocks noGrp="1"/>
          </p:cNvSpPr>
          <p:nvPr/>
        </p:nvSpPr>
        <p:spPr>
          <a:xfrm>
            <a:off x="6248400" y="2190750"/>
            <a:ext cx="2476500" cy="1809750"/>
          </a:xfrm>
          <a:prstGeom prst="roundRect">
            <a:avLst>
              <a:gd name="adj" fmla="val 6316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FE5C583-671F-44E3-BB4E-6227E6C57669}"/>
              </a:ext>
            </a:extLst>
          </p:cNvPr>
          <p:cNvSpPr>
            <a:spLocks noGrp="1"/>
          </p:cNvSpPr>
          <p:nvPr/>
        </p:nvSpPr>
        <p:spPr>
          <a:xfrm>
            <a:off x="6477000" y="2381250"/>
            <a:ext cx="666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5E726C2-2E8A-4F1C-82F7-D6FC3B3CF15D}"/>
              </a:ext>
            </a:extLst>
          </p:cNvPr>
          <p:cNvSpPr>
            <a:spLocks noGrp="1"/>
          </p:cNvSpPr>
          <p:nvPr/>
        </p:nvSpPr>
        <p:spPr>
          <a:xfrm>
            <a:off x="6477000" y="3028950"/>
            <a:ext cx="2019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補充上下文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BAC261F-5005-451A-9EC6-16046AF76AA9}"/>
              </a:ext>
            </a:extLst>
          </p:cNvPr>
          <p:cNvSpPr>
            <a:spLocks noGrp="1"/>
          </p:cNvSpPr>
          <p:nvPr/>
        </p:nvSpPr>
        <p:spPr>
          <a:xfrm>
            <a:off x="6477000" y="3562350"/>
            <a:ext cx="20193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把內容交給對話模型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BC0AC4F-7F0B-475A-9C78-D8BEEC96BF1E}"/>
              </a:ext>
            </a:extLst>
          </p:cNvPr>
          <p:cNvSpPr>
            <a:spLocks noGrp="1"/>
          </p:cNvSpPr>
          <p:nvPr/>
        </p:nvSpPr>
        <p:spPr>
          <a:xfrm>
            <a:off x="8743950" y="2809875"/>
            <a:ext cx="4000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40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34D35A31-E781-47CC-B40A-6E2DC1CFEEA0}"/>
              </a:ext>
            </a:extLst>
          </p:cNvPr>
          <p:cNvSpPr>
            <a:spLocks noGrp="1"/>
          </p:cNvSpPr>
          <p:nvPr/>
        </p:nvSpPr>
        <p:spPr>
          <a:xfrm>
            <a:off x="9144000" y="2190750"/>
            <a:ext cx="2476500" cy="1809750"/>
          </a:xfrm>
          <a:prstGeom prst="roundRect">
            <a:avLst>
              <a:gd name="adj" fmla="val 6316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CAF29C6-5F96-4C84-8A19-82398ED7A16E}"/>
              </a:ext>
            </a:extLst>
          </p:cNvPr>
          <p:cNvSpPr>
            <a:spLocks noGrp="1"/>
          </p:cNvSpPr>
          <p:nvPr/>
        </p:nvSpPr>
        <p:spPr>
          <a:xfrm>
            <a:off x="9372600" y="2381250"/>
            <a:ext cx="666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9FFA18A-8E21-4DD9-B1DF-189C13601BFF}"/>
              </a:ext>
            </a:extLst>
          </p:cNvPr>
          <p:cNvSpPr>
            <a:spLocks noGrp="1"/>
          </p:cNvSpPr>
          <p:nvPr/>
        </p:nvSpPr>
        <p:spPr>
          <a:xfrm>
            <a:off x="9372600" y="3028950"/>
            <a:ext cx="2019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產生回答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2D520AB-D938-4E08-AE32-ED4868D0EB92}"/>
              </a:ext>
            </a:extLst>
          </p:cNvPr>
          <p:cNvSpPr>
            <a:spLocks noGrp="1"/>
          </p:cNvSpPr>
          <p:nvPr/>
        </p:nvSpPr>
        <p:spPr>
          <a:xfrm>
            <a:off x="9372600" y="3562350"/>
            <a:ext cx="20193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附上來源供查核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099B058-151F-42FB-88CC-630CD19E50C9}"/>
              </a:ext>
            </a:extLst>
          </p:cNvPr>
          <p:cNvSpPr>
            <a:spLocks noGrp="1"/>
          </p:cNvSpPr>
          <p:nvPr/>
        </p:nvSpPr>
        <p:spPr>
          <a:xfrm>
            <a:off x="666750" y="4953000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Knowledge（知識庫）保存文件與索引，不會把文件寫進對話模型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7B2222E-107E-47F3-B85E-8BE6D6DB1117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26174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13CBEF63-B038-477C-BEA4-1212A7FC4F99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兩個模型，負責不同工作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BBFEE5-D525-4DAB-8B4D-A2D53C4B4A11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建立知識庫 · 02/34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5963653-61BA-4AF6-B77D-CD825D6A1002}"/>
              </a:ext>
            </a:extLst>
          </p:cNvPr>
          <p:cNvSpPr>
            <a:spLocks noGrp="1"/>
          </p:cNvSpPr>
          <p:nvPr/>
        </p:nvSpPr>
        <p:spPr>
          <a:xfrm>
            <a:off x="457200" y="1352550"/>
            <a:ext cx="5486400" cy="4000500"/>
          </a:xfrm>
          <a:prstGeom prst="roundRect">
            <a:avLst>
              <a:gd name="adj" fmla="val 2857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C10F633-4BF3-4993-B122-8B3171F54989}"/>
              </a:ext>
            </a:extLst>
          </p:cNvPr>
          <p:cNvSpPr>
            <a:spLocks noGrp="1"/>
          </p:cNvSpPr>
          <p:nvPr/>
        </p:nvSpPr>
        <p:spPr>
          <a:xfrm>
            <a:off x="723900" y="1657350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對話模型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DEDC49E-13AD-4FC7-92FA-8BD939CD5C54}"/>
              </a:ext>
            </a:extLst>
          </p:cNvPr>
          <p:cNvSpPr>
            <a:spLocks noGrp="1"/>
          </p:cNvSpPr>
          <p:nvPr/>
        </p:nvSpPr>
        <p:spPr>
          <a:xfrm>
            <a:off x="723900" y="2114550"/>
            <a:ext cx="4953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phi4-mini:3.8b-q4_K_M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CF2AAB1-5F3F-4D28-B1D6-EE3ACCDFEFFB}"/>
              </a:ext>
            </a:extLst>
          </p:cNvPr>
          <p:cNvSpPr>
            <a:spLocks noGrp="1"/>
          </p:cNvSpPr>
          <p:nvPr/>
        </p:nvSpPr>
        <p:spPr>
          <a:xfrm>
            <a:off x="723900" y="2895600"/>
            <a:ext cx="49530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285750" indent="-285750" algn="l">
              <a:lnSpc>
                <a:spcPct val="150000"/>
              </a:lnSpc>
              <a:buFont typeface="Arial"/>
              <a:buChar char="•"/>
              <a:def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理解問題</a:t>
            </a:r>
          </a:p>
          <a:p>
            <a:pPr marL="285750" indent="-285750" algn="l">
              <a:lnSpc>
                <a:spcPct val="150000"/>
              </a:lnSpc>
              <a:buFont typeface="Arial"/>
              <a:buChar char="•"/>
              <a:def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整理檢索到的內容</a:t>
            </a:r>
          </a:p>
          <a:p>
            <a:pPr marL="285750" indent="-285750" algn="l">
              <a:lnSpc>
                <a:spcPct val="150000"/>
              </a:lnSpc>
              <a:buFont typeface="Arial"/>
              <a:buChar char="•"/>
              <a:def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產生回答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786DF452-B130-450A-BE0C-8E535BFAA0D0}"/>
              </a:ext>
            </a:extLst>
          </p:cNvPr>
          <p:cNvSpPr>
            <a:spLocks noGrp="1"/>
          </p:cNvSpPr>
          <p:nvPr/>
        </p:nvSpPr>
        <p:spPr>
          <a:xfrm>
            <a:off x="6248400" y="1352550"/>
            <a:ext cx="5486400" cy="4000500"/>
          </a:xfrm>
          <a:prstGeom prst="roundRect">
            <a:avLst>
              <a:gd name="adj" fmla="val 2857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47A004A-95FF-4AB7-91DE-679F99E0EA95}"/>
              </a:ext>
            </a:extLst>
          </p:cNvPr>
          <p:cNvSpPr>
            <a:spLocks noGrp="1"/>
          </p:cNvSpPr>
          <p:nvPr/>
        </p:nvSpPr>
        <p:spPr>
          <a:xfrm>
            <a:off x="6515100" y="1657350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索引模型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6B65473-179E-47D4-BE5B-85B2F9B034A3}"/>
              </a:ext>
            </a:extLst>
          </p:cNvPr>
          <p:cNvSpPr>
            <a:spLocks noGrp="1"/>
          </p:cNvSpPr>
          <p:nvPr/>
        </p:nvSpPr>
        <p:spPr>
          <a:xfrm>
            <a:off x="6515100" y="2114550"/>
            <a:ext cx="4953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embeddinggemma:300m-qat-q4_0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84D810-4CC7-48B7-ABBB-2958C3A975C2}"/>
              </a:ext>
            </a:extLst>
          </p:cNvPr>
          <p:cNvSpPr>
            <a:spLocks noGrp="1"/>
          </p:cNvSpPr>
          <p:nvPr/>
        </p:nvSpPr>
        <p:spPr>
          <a:xfrm>
            <a:off x="6515100" y="2895600"/>
            <a:ext cx="49530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285750" indent="-285750" algn="l">
              <a:lnSpc>
                <a:spcPct val="150000"/>
              </a:lnSpc>
              <a:buFont typeface="Arial"/>
              <a:buChar char="•"/>
              <a:def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建立文件索引</a:t>
            </a:r>
          </a:p>
          <a:p>
            <a:pPr marL="285750" indent="-285750" algn="l">
              <a:lnSpc>
                <a:spcPct val="150000"/>
              </a:lnSpc>
              <a:buFont typeface="Arial"/>
              <a:buChar char="•"/>
              <a:def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尋找相關內容</a:t>
            </a:r>
          </a:p>
          <a:p>
            <a:pPr marL="285750" indent="-285750" algn="l">
              <a:lnSpc>
                <a:spcPct val="150000"/>
              </a:lnSpc>
              <a:buFont typeface="Arial"/>
              <a:buChar char="•"/>
              <a:def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不供一般對話選用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6F22E0-C78F-4C9B-BF72-01C93996336C}"/>
              </a:ext>
            </a:extLst>
          </p:cNvPr>
          <p:cNvSpPr>
            <a:spLocks noGrp="1"/>
          </p:cNvSpPr>
          <p:nvPr/>
        </p:nvSpPr>
        <p:spPr>
          <a:xfrm>
            <a:off x="666750" y="5695950"/>
            <a:ext cx="1085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文件建立索引後，不要任意更換索引模型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732DD4C-72C7-4B9E-8E70-9FB42B582D50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50583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CEC66A5-2368-4FF4-A976-B12C51F55106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準備本次測試文件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8333F4-B01B-403A-BBFF-11558E4A93E1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建立知識庫 · 03/34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8AF439-8678-4E79-88FA-DB0785452542}"/>
              </a:ext>
            </a:extLst>
          </p:cNvPr>
          <p:cNvSpPr>
            <a:spLocks noGrp="1"/>
          </p:cNvSpPr>
          <p:nvPr/>
        </p:nvSpPr>
        <p:spPr>
          <a:xfrm>
            <a:off x="609600" y="1409700"/>
            <a:ext cx="819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A58A49-DC37-4397-9355-76ACE61E0A4C}"/>
              </a:ext>
            </a:extLst>
          </p:cNvPr>
          <p:cNvSpPr>
            <a:spLocks noGrp="1"/>
          </p:cNvSpPr>
          <p:nvPr/>
        </p:nvSpPr>
        <p:spPr>
          <a:xfrm>
            <a:off x="1638300" y="1447800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建立實作資料夾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AABEED-2CC4-4078-AAE4-CD7013210AA6}"/>
              </a:ext>
            </a:extLst>
          </p:cNvPr>
          <p:cNvSpPr>
            <a:spLocks noGrp="1"/>
          </p:cNvSpPr>
          <p:nvPr/>
        </p:nvSpPr>
        <p:spPr>
          <a:xfrm>
            <a:off x="5219700" y="14859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集中保存本次使用的原始文件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786B82-6989-4E51-BB61-28EF0E02E419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10801350" cy="9525"/>
          </a:xfrm>
          <a:prstGeom prst="rect">
            <a:avLst/>
          </a:prstGeom>
          <a:solidFill>
            <a:srgbClr val="232323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7CD613-2269-478D-A0EE-4E98B9ABBC03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819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66A7BB4-88F7-4C5D-93EE-8980BD4550FA}"/>
              </a:ext>
            </a:extLst>
          </p:cNvPr>
          <p:cNvSpPr>
            <a:spLocks noGrp="1"/>
          </p:cNvSpPr>
          <p:nvPr/>
        </p:nvSpPr>
        <p:spPr>
          <a:xfrm>
            <a:off x="1638300" y="2400300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複製 v1 測試文件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FAB41DC-DA68-451C-B100-6DFEC5C5E275}"/>
              </a:ext>
            </a:extLst>
          </p:cNvPr>
          <p:cNvSpPr>
            <a:spLocks noGrp="1"/>
          </p:cNvSpPr>
          <p:nvPr/>
        </p:nvSpPr>
        <p:spPr>
          <a:xfrm>
            <a:off x="5219700" y="24384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設備借用與歸還規則_v1.md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7E296C8-F469-4E7A-BD29-3B59C46BA4CC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10801350" cy="9525"/>
          </a:xfrm>
          <a:prstGeom prst="rect">
            <a:avLst/>
          </a:prstGeom>
          <a:solidFill>
            <a:srgbClr val="232323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95C6C06-A8CF-414C-8A0F-167F9185FCAE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819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61D6F48-54F8-47CD-BDA2-6150E5AF0490}"/>
              </a:ext>
            </a:extLst>
          </p:cNvPr>
          <p:cNvSpPr>
            <a:spLocks noGrp="1"/>
          </p:cNvSpPr>
          <p:nvPr/>
        </p:nvSpPr>
        <p:spPr>
          <a:xfrm>
            <a:off x="1638300" y="3352800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加入自己的文件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FE89816-0057-4B00-A5C5-B039FBCC603F}"/>
              </a:ext>
            </a:extLst>
          </p:cNvPr>
          <p:cNvSpPr>
            <a:spLocks noGrp="1"/>
          </p:cNvSpPr>
          <p:nvPr/>
        </p:nvSpPr>
        <p:spPr>
          <a:xfrm>
            <a:off x="5219700" y="33909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合計準備兩至五份可信文件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868DB71-CA42-40F2-9F32-036C4B5FF658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10801350" cy="9525"/>
          </a:xfrm>
          <a:prstGeom prst="rect">
            <a:avLst/>
          </a:prstGeom>
          <a:solidFill>
            <a:srgbClr val="232323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DB533AD-ABCF-46F3-B248-4B2E341E0D03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819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BCCFE4F-19C4-42BC-B4F5-3E61EBBC4647}"/>
              </a:ext>
            </a:extLst>
          </p:cNvPr>
          <p:cNvSpPr>
            <a:spLocks noGrp="1"/>
          </p:cNvSpPr>
          <p:nvPr/>
        </p:nvSpPr>
        <p:spPr>
          <a:xfrm>
            <a:off x="1638300" y="4305300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保留可編輯原始檔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BB64D1E-FAEE-48C0-9C2D-B199907D80A7}"/>
              </a:ext>
            </a:extLst>
          </p:cNvPr>
          <p:cNvSpPr>
            <a:spLocks noGrp="1"/>
          </p:cNvSpPr>
          <p:nvPr/>
        </p:nvSpPr>
        <p:spPr>
          <a:xfrm>
            <a:off x="5219700" y="43434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單元 07 會把 v1 更新成 v2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6A457A4-D566-4B45-A352-C6A7881864A9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08013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檔名要能辨認主題與版本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62647F2-C4B1-46FC-BA4F-F04E7EFC850E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48433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FEDD045-4B2C-48EB-990D-8BA475815599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輸入索引模型標籤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537ACBC-05EB-4E75-8318-B327847FD3EA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建立知識庫 · 04/34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1DB8EC-FA5C-4BEB-9903-97F5F5A00B60}"/>
              </a:ext>
            </a:extLst>
          </p:cNvPr>
          <p:cNvSpPr>
            <a:spLocks noGrp="1"/>
          </p:cNvSpPr>
          <p:nvPr/>
        </p:nvSpPr>
        <p:spPr>
          <a:xfrm>
            <a:off x="457200" y="952500"/>
            <a:ext cx="11277600" cy="4857750"/>
          </a:xfrm>
          <a:prstGeom prst="rect">
            <a:avLst/>
          </a:prstGeom>
          <a:solidFill>
            <a:srgbClr val="111111"/>
          </a:solidFill>
          <a:ln w="9525">
            <a:solidFill>
              <a:srgbClr val="5A5A5A"/>
            </a:solidFill>
            <a:prstDash val="solid"/>
          </a:ln>
        </p:spPr>
      </p:sp>
      <p:pic>
        <p:nvPicPr>
          <p:cNvPr id="12" name="圖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9974" y="952500"/>
            <a:ext cx="11012052" cy="485775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F3C367A-9CED-4E61-B3C1-D67BCDD72FF0}"/>
              </a:ext>
            </a:extLst>
          </p:cNvPr>
          <p:cNvSpPr>
            <a:spLocks noGrp="1"/>
          </p:cNvSpPr>
          <p:nvPr/>
        </p:nvSpPr>
        <p:spPr>
          <a:xfrm>
            <a:off x="666750" y="5876925"/>
            <a:ext cx="1085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輸入 embeddinggemma:300m-qat-q4_0，再開始下載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9787840-77CC-4BBE-AAA2-FCB7AE09584A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91316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39DDDB7-B8AA-4EFC-8CE7-173D2FD53D79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等待索引模型下載完成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FDB1A6-6389-4AD4-8313-9FC12290C035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建立知識庫 · 05/34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CC3D0C-F838-470E-9607-7556A30D4654}"/>
              </a:ext>
            </a:extLst>
          </p:cNvPr>
          <p:cNvSpPr>
            <a:spLocks noGrp="1"/>
          </p:cNvSpPr>
          <p:nvPr/>
        </p:nvSpPr>
        <p:spPr>
          <a:xfrm>
            <a:off x="457200" y="952500"/>
            <a:ext cx="11277600" cy="4857750"/>
          </a:xfrm>
          <a:prstGeom prst="rect">
            <a:avLst/>
          </a:prstGeom>
          <a:solidFill>
            <a:srgbClr val="111111"/>
          </a:solidFill>
          <a:ln w="9525">
            <a:solidFill>
              <a:srgbClr val="5A5A5A"/>
            </a:solidFill>
            <a:prstDash val="solid"/>
          </a:ln>
        </p:spPr>
      </p:sp>
      <p:pic>
        <p:nvPicPr>
          <p:cNvPr id="12" name="圖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37904" y="952500"/>
            <a:ext cx="8716191" cy="485775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A429A20-A1C7-4A57-9BC5-8C60E0E7D7F3}"/>
              </a:ext>
            </a:extLst>
          </p:cNvPr>
          <p:cNvSpPr>
            <a:spLocks noGrp="1"/>
          </p:cNvSpPr>
          <p:nvPr/>
        </p:nvSpPr>
        <p:spPr>
          <a:xfrm>
            <a:off x="666750" y="5876925"/>
            <a:ext cx="1085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看到模型名稱與容量後，再進到下一步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8433E9-6723-4EAE-A086-C92C397E6306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11394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D6E69A0-14F0-47A4-AFDE-AB9C93527E5A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將索引模型設為隱藏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628C214-5964-434C-BD2D-4181C8475E75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建立知識庫 · 06/34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822933-7BDC-4B2C-A2A4-513CD2982023}"/>
              </a:ext>
            </a:extLst>
          </p:cNvPr>
          <p:cNvSpPr>
            <a:spLocks noGrp="1"/>
          </p:cNvSpPr>
          <p:nvPr/>
        </p:nvSpPr>
        <p:spPr>
          <a:xfrm>
            <a:off x="457200" y="952500"/>
            <a:ext cx="11277600" cy="4857750"/>
          </a:xfrm>
          <a:prstGeom prst="rect">
            <a:avLst/>
          </a:prstGeom>
          <a:solidFill>
            <a:srgbClr val="111111"/>
          </a:solidFill>
          <a:ln w="9525">
            <a:solidFill>
              <a:srgbClr val="5A5A5A"/>
            </a:solidFill>
            <a:prstDash val="solid"/>
          </a:ln>
        </p:spPr>
      </p:sp>
      <p:pic>
        <p:nvPicPr>
          <p:cNvPr id="12" name="圖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06902" y="952500"/>
            <a:ext cx="6978196" cy="485775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9713D9E-DDA9-4363-A626-402276F237BA}"/>
              </a:ext>
            </a:extLst>
          </p:cNvPr>
          <p:cNvSpPr>
            <a:spLocks noGrp="1"/>
          </p:cNvSpPr>
          <p:nvPr/>
        </p:nvSpPr>
        <p:spPr>
          <a:xfrm>
            <a:off x="666750" y="5876925"/>
            <a:ext cx="1085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索引模型不供一般對話選用，選擇「隱藏模型」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72DA5E6-422A-438E-A6EA-DCDD689CAB5E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55449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EDD6B45-66CD-465C-B8BA-2FC55FCD98AD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確認文件索引設定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C4681DB-AEBF-43B4-B095-E81A24802D19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建立知識庫 · 07/34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A391D3-D2E6-4E06-B977-F89415669EEC}"/>
              </a:ext>
            </a:extLst>
          </p:cNvPr>
          <p:cNvSpPr>
            <a:spLocks noGrp="1"/>
          </p:cNvSpPr>
          <p:nvPr/>
        </p:nvSpPr>
        <p:spPr>
          <a:xfrm>
            <a:off x="457200" y="952500"/>
            <a:ext cx="11277600" cy="4857750"/>
          </a:xfrm>
          <a:prstGeom prst="rect">
            <a:avLst/>
          </a:prstGeom>
          <a:solidFill>
            <a:srgbClr val="111111"/>
          </a:solidFill>
          <a:ln w="9525">
            <a:solidFill>
              <a:srgbClr val="5A5A5A"/>
            </a:solidFill>
            <a:prstDash val="solid"/>
          </a:ln>
        </p:spPr>
      </p:sp>
      <p:pic>
        <p:nvPicPr>
          <p:cNvPr id="12" name="圖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9657" y="952500"/>
            <a:ext cx="10132687" cy="485775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89EF13E-77FF-49B2-8027-BCA8949B99EB}"/>
              </a:ext>
            </a:extLst>
          </p:cNvPr>
          <p:cNvSpPr>
            <a:spLocks noGrp="1"/>
          </p:cNvSpPr>
          <p:nvPr/>
        </p:nvSpPr>
        <p:spPr>
          <a:xfrm>
            <a:off x="666750" y="5876925"/>
            <a:ext cx="1085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嵌入模型引擎選 Ollama，嵌入模型選 embeddinggemma:300m-qat-q4_0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59FDABC-06CA-434B-9C56-96BFA6FF2A71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73838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E49A443-2AFA-4531-89A2-012009263023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從側邊欄開啟工作區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D2F69F3-005D-4B3F-8CAF-1B2FD0CFB6DD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建立知識庫 · 08/34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358E83-259F-4CFE-BAA7-2B34200EAB3B}"/>
              </a:ext>
            </a:extLst>
          </p:cNvPr>
          <p:cNvSpPr>
            <a:spLocks noGrp="1"/>
          </p:cNvSpPr>
          <p:nvPr/>
        </p:nvSpPr>
        <p:spPr>
          <a:xfrm>
            <a:off x="457200" y="952500"/>
            <a:ext cx="11277600" cy="4857750"/>
          </a:xfrm>
          <a:prstGeom prst="rect">
            <a:avLst/>
          </a:prstGeom>
          <a:solidFill>
            <a:srgbClr val="111111"/>
          </a:solidFill>
          <a:ln w="9525">
            <a:solidFill>
              <a:srgbClr val="5A5A5A"/>
            </a:solidFill>
            <a:prstDash val="solid"/>
          </a:ln>
        </p:spPr>
      </p:sp>
      <p:pic>
        <p:nvPicPr>
          <p:cNvPr id="12" name="圖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956864" y="952500"/>
            <a:ext cx="4278272" cy="485775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6788FBA-8A5F-4DB5-B5C1-A0E444EB501F}"/>
              </a:ext>
            </a:extLst>
          </p:cNvPr>
          <p:cNvSpPr>
            <a:spLocks noGrp="1"/>
          </p:cNvSpPr>
          <p:nvPr/>
        </p:nvSpPr>
        <p:spPr>
          <a:xfrm>
            <a:off x="666750" y="5876925"/>
            <a:ext cx="1085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展開側邊欄後，選擇「工作區」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C68EE9-D35B-47C8-9A68-26B52B8BF916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71024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08EAF2B-E355-4F35-9C31-0C510F9614E8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建立 Knowledge（知識庫）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E4E302-1D59-4D1B-B733-3C97C8985AE9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建立知識庫 · 09/34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5F84B1-8EEC-4A71-AEC4-CD5F6367DE66}"/>
              </a:ext>
            </a:extLst>
          </p:cNvPr>
          <p:cNvSpPr>
            <a:spLocks noGrp="1"/>
          </p:cNvSpPr>
          <p:nvPr/>
        </p:nvSpPr>
        <p:spPr>
          <a:xfrm>
            <a:off x="457200" y="952500"/>
            <a:ext cx="11277600" cy="4857750"/>
          </a:xfrm>
          <a:prstGeom prst="rect">
            <a:avLst/>
          </a:prstGeom>
          <a:solidFill>
            <a:srgbClr val="111111"/>
          </a:solidFill>
          <a:ln w="9525">
            <a:solidFill>
              <a:srgbClr val="5A5A5A"/>
            </a:solidFill>
            <a:prstDash val="solid"/>
          </a:ln>
        </p:spPr>
      </p:sp>
      <p:pic>
        <p:nvPicPr>
          <p:cNvPr id="12" name="圖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69029" y="952500"/>
            <a:ext cx="7053943" cy="485775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7C1EF7-6BA1-41CD-821F-B06DD6C160F9}"/>
              </a:ext>
            </a:extLst>
          </p:cNvPr>
          <p:cNvSpPr>
            <a:spLocks noGrp="1"/>
          </p:cNvSpPr>
          <p:nvPr/>
        </p:nvSpPr>
        <p:spPr>
          <a:xfrm>
            <a:off x="666750" y="5876925"/>
            <a:ext cx="1085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輸入容易辨識的名稱與用途，再選擇「建立知識」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E6191DD-2D71-4FCA-9075-94FF6BF004A2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00627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F80784BA-D44F-449B-B2B1-51D8F5FC9F0C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加入知識庫內容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7E86010-43BC-4FFE-BE93-1E7871C4E912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建立知識庫 · 10/34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B4CE531-C5CC-4894-B13C-878CE6669DEA}"/>
              </a:ext>
            </a:extLst>
          </p:cNvPr>
          <p:cNvSpPr>
            <a:spLocks noGrp="1"/>
          </p:cNvSpPr>
          <p:nvPr/>
        </p:nvSpPr>
        <p:spPr>
          <a:xfrm>
            <a:off x="457200" y="952500"/>
            <a:ext cx="11277600" cy="4857750"/>
          </a:xfrm>
          <a:prstGeom prst="rect">
            <a:avLst/>
          </a:prstGeom>
          <a:solidFill>
            <a:srgbClr val="111111"/>
          </a:solidFill>
          <a:ln w="9525">
            <a:solidFill>
              <a:srgbClr val="5A5A5A"/>
            </a:solidFill>
            <a:prstDash val="solid"/>
          </a:ln>
        </p:spPr>
      </p:sp>
      <p:pic>
        <p:nvPicPr>
          <p:cNvPr id="12" name="圖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2026421"/>
            <a:ext cx="11277600" cy="270990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2249774-700B-4453-B0E0-AF48C6913346}"/>
              </a:ext>
            </a:extLst>
          </p:cNvPr>
          <p:cNvSpPr>
            <a:spLocks noGrp="1"/>
          </p:cNvSpPr>
          <p:nvPr/>
        </p:nvSpPr>
        <p:spPr>
          <a:xfrm>
            <a:off x="666750" y="5876925"/>
            <a:ext cx="1085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進入知識庫後，選擇右側的新增按鈕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7062AD-3173-4819-B0A8-65B02F70DA1C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67250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B971FA0-C6B3-4839-9C4B-E0CCE579580C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選擇準備好的文件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109682-29ED-451B-BE55-8DC057527F48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建立知識庫 · 11/34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92300-DC38-4931-BB2C-B1CFA7BAE436}"/>
              </a:ext>
            </a:extLst>
          </p:cNvPr>
          <p:cNvSpPr>
            <a:spLocks noGrp="1"/>
          </p:cNvSpPr>
          <p:nvPr/>
        </p:nvSpPr>
        <p:spPr>
          <a:xfrm>
            <a:off x="457200" y="952500"/>
            <a:ext cx="11277600" cy="4857750"/>
          </a:xfrm>
          <a:prstGeom prst="rect">
            <a:avLst/>
          </a:prstGeom>
          <a:solidFill>
            <a:srgbClr val="111111"/>
          </a:solidFill>
          <a:ln w="9525">
            <a:solidFill>
              <a:srgbClr val="5A5A5A"/>
            </a:solidFill>
            <a:prstDash val="solid"/>
          </a:ln>
        </p:spPr>
      </p:sp>
      <p:pic>
        <p:nvPicPr>
          <p:cNvPr id="12" name="圖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86237" y="952500"/>
            <a:ext cx="9619526" cy="485775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C315E05-5FF2-484B-AFF7-7AB50CD1C4D3}"/>
              </a:ext>
            </a:extLst>
          </p:cNvPr>
          <p:cNvSpPr>
            <a:spLocks noGrp="1"/>
          </p:cNvSpPr>
          <p:nvPr/>
        </p:nvSpPr>
        <p:spPr>
          <a:xfrm>
            <a:off x="666750" y="5876925"/>
            <a:ext cx="1085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一次選取多份文件，再選擇「開啟」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9CA692-C1D6-4D14-91BA-C4E1C976DF94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090330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27B2DE1-654E-4551-B52E-8DADDDEDA4EE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確認文件完成處理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D046146-BE94-4C2E-9C34-446C0885C522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建立知識庫 · 12/34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31D5C0D-6634-4802-BE8E-1463FC964629}"/>
              </a:ext>
            </a:extLst>
          </p:cNvPr>
          <p:cNvSpPr>
            <a:spLocks noGrp="1"/>
          </p:cNvSpPr>
          <p:nvPr/>
        </p:nvSpPr>
        <p:spPr>
          <a:xfrm>
            <a:off x="457200" y="952500"/>
            <a:ext cx="11277600" cy="4857750"/>
          </a:xfrm>
          <a:prstGeom prst="rect">
            <a:avLst/>
          </a:prstGeom>
          <a:solidFill>
            <a:srgbClr val="111111"/>
          </a:solidFill>
          <a:ln w="9525">
            <a:solidFill>
              <a:srgbClr val="5A5A5A"/>
            </a:solidFill>
            <a:prstDash val="solid"/>
          </a:ln>
        </p:spPr>
      </p:sp>
      <p:pic>
        <p:nvPicPr>
          <p:cNvPr id="12" name="圖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1690656"/>
            <a:ext cx="11277600" cy="338143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A33C53E-A1BF-45AA-9990-1CBCB8309669}"/>
              </a:ext>
            </a:extLst>
          </p:cNvPr>
          <p:cNvSpPr>
            <a:spLocks noGrp="1"/>
          </p:cNvSpPr>
          <p:nvPr/>
        </p:nvSpPr>
        <p:spPr>
          <a:xfrm>
            <a:off x="666750" y="5876925"/>
            <a:ext cx="1085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重新整理後，確認文件仍在知識庫且沒有錯誤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7E858FB-F30D-476F-A1A6-AFFBA1A5FB84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96998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9C34B3A8-5E43-4F40-ACDC-A8EEEB1B32AE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知識庫與對話附件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B34EFA-03C3-4690-9666-03F1A272EBDB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文件問答 · 13/34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4466470B-DF0F-4B7D-9DEB-921F52413F84}"/>
              </a:ext>
            </a:extLst>
          </p:cNvPr>
          <p:cNvSpPr>
            <a:spLocks noGrp="1"/>
          </p:cNvSpPr>
          <p:nvPr/>
        </p:nvSpPr>
        <p:spPr>
          <a:xfrm>
            <a:off x="457200" y="1352550"/>
            <a:ext cx="5486400" cy="4000500"/>
          </a:xfrm>
          <a:prstGeom prst="roundRect">
            <a:avLst>
              <a:gd name="adj" fmla="val 2857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0879D28-90A8-4079-A17B-AFF2CD174396}"/>
              </a:ext>
            </a:extLst>
          </p:cNvPr>
          <p:cNvSpPr>
            <a:spLocks noGrp="1"/>
          </p:cNvSpPr>
          <p:nvPr/>
        </p:nvSpPr>
        <p:spPr>
          <a:xfrm>
            <a:off x="723900" y="1657350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Knowledge（知識庫）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8297ACE-B4D9-4E98-B8BF-15DE3F95A213}"/>
              </a:ext>
            </a:extLst>
          </p:cNvPr>
          <p:cNvSpPr>
            <a:spLocks noGrp="1"/>
          </p:cNvSpPr>
          <p:nvPr/>
        </p:nvSpPr>
        <p:spPr>
          <a:xfrm>
            <a:off x="723900" y="2114550"/>
            <a:ext cx="4953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長期管理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072CF4-13E7-46CD-8966-76181904AE5D}"/>
              </a:ext>
            </a:extLst>
          </p:cNvPr>
          <p:cNvSpPr>
            <a:spLocks noGrp="1"/>
          </p:cNvSpPr>
          <p:nvPr/>
        </p:nvSpPr>
        <p:spPr>
          <a:xfrm>
            <a:off x="723900" y="2895600"/>
            <a:ext cx="49530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285750" indent="-285750" algn="l">
              <a:lnSpc>
                <a:spcPct val="150000"/>
              </a:lnSpc>
              <a:buFont typeface="Arial"/>
              <a:buChar char="•"/>
              <a:def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同一主題的多份文件</a:t>
            </a:r>
          </a:p>
          <a:p>
            <a:pPr marL="285750" indent="-285750" algn="l">
              <a:lnSpc>
                <a:spcPct val="150000"/>
              </a:lnSpc>
              <a:buFont typeface="Arial"/>
              <a:buChar char="•"/>
              <a:def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會重複查詢或持續更新</a:t>
            </a:r>
          </a:p>
          <a:p>
            <a:pPr marL="285750" indent="-285750" algn="l">
              <a:lnSpc>
                <a:spcPct val="150000"/>
              </a:lnSpc>
              <a:buFont typeface="Arial"/>
              <a:buChar char="•"/>
              <a:def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適合單元 05～09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0263FF6D-D377-467F-96D9-0FE8E509752D}"/>
              </a:ext>
            </a:extLst>
          </p:cNvPr>
          <p:cNvSpPr>
            <a:spLocks noGrp="1"/>
          </p:cNvSpPr>
          <p:nvPr/>
        </p:nvSpPr>
        <p:spPr>
          <a:xfrm>
            <a:off x="6248400" y="1352550"/>
            <a:ext cx="5486400" cy="4000500"/>
          </a:xfrm>
          <a:prstGeom prst="roundRect">
            <a:avLst>
              <a:gd name="adj" fmla="val 2857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F5E21F9-B1F5-4AD8-83B8-1BE613F27FC2}"/>
              </a:ext>
            </a:extLst>
          </p:cNvPr>
          <p:cNvSpPr>
            <a:spLocks noGrp="1"/>
          </p:cNvSpPr>
          <p:nvPr/>
        </p:nvSpPr>
        <p:spPr>
          <a:xfrm>
            <a:off x="6515100" y="1657350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File Context（文件內容）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48CED5-B533-4A8F-811A-200958EAC4D3}"/>
              </a:ext>
            </a:extLst>
          </p:cNvPr>
          <p:cNvSpPr>
            <a:spLocks noGrp="1"/>
          </p:cNvSpPr>
          <p:nvPr/>
        </p:nvSpPr>
        <p:spPr>
          <a:xfrm>
            <a:off x="6515100" y="2114550"/>
            <a:ext cx="4953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單次使用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9B8F647-10B1-406A-A4B9-A30A8F2985C0}"/>
              </a:ext>
            </a:extLst>
          </p:cNvPr>
          <p:cNvSpPr>
            <a:spLocks noGrp="1"/>
          </p:cNvSpPr>
          <p:nvPr/>
        </p:nvSpPr>
        <p:spPr>
          <a:xfrm>
            <a:off x="6515100" y="2895600"/>
            <a:ext cx="49530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285750" indent="-285750" algn="l">
              <a:lnSpc>
                <a:spcPct val="150000"/>
              </a:lnSpc>
              <a:buFont typeface="Arial"/>
              <a:buChar char="•"/>
              <a:def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目前對話臨時使用</a:t>
            </a:r>
          </a:p>
          <a:p>
            <a:pPr marL="285750" indent="-285750" algn="l">
              <a:lnSpc>
                <a:spcPct val="150000"/>
              </a:lnSpc>
              <a:buFont typeface="Arial"/>
              <a:buChar char="•"/>
              <a:def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適合短文件或一次閱讀</a:t>
            </a:r>
          </a:p>
          <a:p>
            <a:pPr marL="285750" indent="-285750" algn="l">
              <a:lnSpc>
                <a:spcPct val="150000"/>
              </a:lnSpc>
              <a:buFont typeface="Arial"/>
              <a:buChar char="•"/>
              <a:def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不取代知識庫管理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AF8DB27-3F15-4FBF-B0B5-BC4E984BDABD}"/>
              </a:ext>
            </a:extLst>
          </p:cNvPr>
          <p:cNvSpPr>
            <a:spLocks noGrp="1"/>
          </p:cNvSpPr>
          <p:nvPr/>
        </p:nvSpPr>
        <p:spPr>
          <a:xfrm>
            <a:off x="666750" y="5695950"/>
            <a:ext cx="1085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兩者都可提供文件內容，但使用範圍不同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957988F-9130-471F-889E-20951FB53486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99408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7FD8CA5-6683-43C2-9FBF-6CD8C3CB7A49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在新對話選擇知識庫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0C980B2-1CC8-4E89-B0F8-2EC7233EBE38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文件問答 · 14/34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66E746-F1F0-42AF-949C-995B9D64173B}"/>
              </a:ext>
            </a:extLst>
          </p:cNvPr>
          <p:cNvSpPr>
            <a:spLocks noGrp="1"/>
          </p:cNvSpPr>
          <p:nvPr/>
        </p:nvSpPr>
        <p:spPr>
          <a:xfrm>
            <a:off x="457200" y="952500"/>
            <a:ext cx="11277600" cy="4857750"/>
          </a:xfrm>
          <a:prstGeom prst="rect">
            <a:avLst/>
          </a:prstGeom>
          <a:solidFill>
            <a:srgbClr val="111111"/>
          </a:solidFill>
          <a:ln w="9525">
            <a:solidFill>
              <a:srgbClr val="5A5A5A"/>
            </a:solidFill>
            <a:prstDash val="solid"/>
          </a:ln>
        </p:spPr>
      </p:sp>
      <p:pic>
        <p:nvPicPr>
          <p:cNvPr id="12" name="圖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34643" y="952500"/>
            <a:ext cx="7122713" cy="485775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2759100-44E9-4B26-A7AB-96F44C26DDE8}"/>
              </a:ext>
            </a:extLst>
          </p:cNvPr>
          <p:cNvSpPr>
            <a:spLocks noGrp="1"/>
          </p:cNvSpPr>
          <p:nvPr/>
        </p:nvSpPr>
        <p:spPr>
          <a:xfrm>
            <a:off x="666750" y="5876925"/>
            <a:ext cx="1085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輸入 #，再從 Collections 選擇原有知識庫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7F51AB-86A9-490A-ADE3-33692A1D9AA6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6017133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49A08D7-B5DA-4221-A561-149BA95FCA9D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確認知識庫已連結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0C1B09-DE38-4086-95FD-667A9652C023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文件問答 · 15/34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6663461-9ECE-4109-8AB5-9818756A6661}"/>
              </a:ext>
            </a:extLst>
          </p:cNvPr>
          <p:cNvSpPr>
            <a:spLocks noGrp="1"/>
          </p:cNvSpPr>
          <p:nvPr/>
        </p:nvSpPr>
        <p:spPr>
          <a:xfrm>
            <a:off x="457200" y="952500"/>
            <a:ext cx="11277600" cy="4857750"/>
          </a:xfrm>
          <a:prstGeom prst="rect">
            <a:avLst/>
          </a:prstGeom>
          <a:solidFill>
            <a:srgbClr val="111111"/>
          </a:solidFill>
          <a:ln w="9525">
            <a:solidFill>
              <a:srgbClr val="5A5A5A"/>
            </a:solidFill>
            <a:prstDash val="solid"/>
          </a:ln>
        </p:spPr>
      </p:sp>
      <p:pic>
        <p:nvPicPr>
          <p:cNvPr id="12" name="圖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1864965"/>
            <a:ext cx="11277600" cy="303282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985954A-239B-4330-85FB-4FA9CC617527}"/>
              </a:ext>
            </a:extLst>
          </p:cNvPr>
          <p:cNvSpPr>
            <a:spLocks noGrp="1"/>
          </p:cNvSpPr>
          <p:nvPr/>
        </p:nvSpPr>
        <p:spPr>
          <a:xfrm>
            <a:off x="666750" y="5876925"/>
            <a:ext cx="1085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知識庫名稱出現在輸入區上方後，再點選名稱查看模式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412C251-4AA0-462A-BDA9-98A1115D6EF9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732401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D94D3863-D657-4269-8641-69CBE54B10BC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開關文字代表目前狀態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A73C14-010E-436B-AD89-CD934C434620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文件問答 · 16/34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C26173-309A-41A6-B4E8-84D76220C360}"/>
              </a:ext>
            </a:extLst>
          </p:cNvPr>
          <p:cNvSpPr>
            <a:spLocks noGrp="1"/>
          </p:cNvSpPr>
          <p:nvPr/>
        </p:nvSpPr>
        <p:spPr>
          <a:xfrm>
            <a:off x="457200" y="952500"/>
            <a:ext cx="11277600" cy="4857750"/>
          </a:xfrm>
          <a:prstGeom prst="rect">
            <a:avLst/>
          </a:prstGeom>
          <a:solidFill>
            <a:srgbClr val="111111"/>
          </a:solidFill>
          <a:ln w="9525">
            <a:solidFill>
              <a:srgbClr val="5A5A5A"/>
            </a:solidFill>
            <a:prstDash val="solid"/>
          </a:ln>
        </p:spPr>
      </p:sp>
      <p:pic>
        <p:nvPicPr>
          <p:cNvPr id="12" name="圖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1764466"/>
            <a:ext cx="11277600" cy="323381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C391B4B-F78F-499E-9A01-EE6AF27A5CB3}"/>
              </a:ext>
            </a:extLst>
          </p:cNvPr>
          <p:cNvSpPr>
            <a:spLocks noGrp="1"/>
          </p:cNvSpPr>
          <p:nvPr/>
        </p:nvSpPr>
        <p:spPr>
          <a:xfrm>
            <a:off x="666750" y="5876925"/>
            <a:ext cx="1085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顯示「使用聚焦檢索」且開關關閉，代表目前正在使用 Focused Retrieval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F484E2-9B5F-4F52-A8DE-7EBDF76DDB88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7857626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FA24005-EEA1-4369-9A48-AFE4FB002FAF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Focused Retrieval 是預設模式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B2CC6F-F493-4135-98EB-D2E03DC22DB8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文件問答 · 17/34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0849499-2C2D-4AE3-8C9B-C4228D62E325}"/>
              </a:ext>
            </a:extLst>
          </p:cNvPr>
          <p:cNvSpPr>
            <a:spLocks noGrp="1"/>
          </p:cNvSpPr>
          <p:nvPr/>
        </p:nvSpPr>
        <p:spPr>
          <a:xfrm>
            <a:off x="457200" y="952500"/>
            <a:ext cx="11277600" cy="4857750"/>
          </a:xfrm>
          <a:prstGeom prst="rect">
            <a:avLst/>
          </a:prstGeom>
          <a:solidFill>
            <a:srgbClr val="111111"/>
          </a:solidFill>
          <a:ln w="9525">
            <a:solidFill>
              <a:srgbClr val="5A5A5A"/>
            </a:solidFill>
            <a:prstDash val="solid"/>
          </a:ln>
        </p:spPr>
      </p:sp>
      <p:pic>
        <p:nvPicPr>
          <p:cNvPr id="12" name="圖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2019041"/>
            <a:ext cx="11277600" cy="272466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1B846FB-16B7-4767-BBBD-545945656A86}"/>
              </a:ext>
            </a:extLst>
          </p:cNvPr>
          <p:cNvSpPr>
            <a:spLocks noGrp="1"/>
          </p:cNvSpPr>
          <p:nvPr/>
        </p:nvSpPr>
        <p:spPr>
          <a:xfrm>
            <a:off x="666750" y="5876925"/>
            <a:ext cx="1085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開關關閉不是停用檢索，而是沒有改用完整檔案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710542-B3A8-419B-8796-64781DEDA882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2131470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201CFAA-90E6-4CEB-BF20-A1C764C14258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Focused Retrieval 與 Full Context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9E06533-EAAE-4648-8CDA-53D2AE890BA1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文件問答 · 18/34</a:t>
            </a:r>
          </a:p>
        </p:txBody>
      </p:sp>
      <p:graphicFrame>
        <p:nvGraphicFramePr>
          <p:cNvPr id="10" name="表格 7"/>
          <p:cNvGraphicFramePr/>
          <p:nvPr/>
        </p:nvGraphicFramePr>
        <p:xfrm>
          <a:off x="457200" y="1381125"/>
          <a:ext cx="11277600" cy="3905250"/>
        </p:xfrm>
        <a:graphic>
          <a:graphicData uri="http://schemas.openxmlformats.org/drawingml/2006/table">
            <a:tbl>
              <a:tblPr firstRow="1"/>
              <a:tblGrid>
                <a:gridCol w="2094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6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0175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470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模式</a:t>
                      </a:r>
                    </a:p>
                  </a:txBody>
                  <a:tcPr marL="114300" marR="114300" marT="95250" marB="95250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470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系統如何取得內容</a:t>
                      </a:r>
                    </a:p>
                  </a:txBody>
                  <a:tcPr marL="114300" marR="114300" marT="95250" marB="95250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470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適合情況</a:t>
                      </a:r>
                    </a:p>
                  </a:txBody>
                  <a:tcPr marL="114300" marR="114300" marT="95250" marB="95250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470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注意事項</a:t>
                      </a:r>
                    </a:p>
                  </a:txBody>
                  <a:tcPr marL="114300" marR="114300" marT="95250" marB="95250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175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Focused Retrieval</a:t>
                      </a:r>
                    </a:p>
                    <a:p>
                      <a:r>
                        <a:rPr sz="20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聚焦檢索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依問題找出部分相關內容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多份或較長文件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可能遺漏未被檢索的段落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175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Full Context</a:t>
                      </a:r>
                    </a:p>
                    <a:p>
                      <a:r>
                        <a:rPr sz="20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完整內容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將完整文件加入上下文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單一且較短的文件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文件過長會增加等待與占用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679FC33C-C007-4FD9-90B7-A1B70469DC0A}"/>
              </a:ext>
            </a:extLst>
          </p:cNvPr>
          <p:cNvSpPr>
            <a:spLocks noGrp="1"/>
          </p:cNvSpPr>
          <p:nvPr/>
        </p:nvSpPr>
        <p:spPr>
          <a:xfrm>
            <a:off x="666750" y="55721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本課程以 Focused Retrieval 為主要模式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AB9A6A-038B-4005-9892-1D356DC65574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7176152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2472196-1189-4788-B57A-82EADA903B08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先完成 Focused Retrieval 測試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0AFB95-8657-4F2B-9F51-D9B17C0192A5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文件問答 · 19/34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F88CE14-AC7E-466F-BAB8-E497A92EAB22}"/>
              </a:ext>
            </a:extLst>
          </p:cNvPr>
          <p:cNvSpPr>
            <a:spLocks noGrp="1"/>
          </p:cNvSpPr>
          <p:nvPr/>
        </p:nvSpPr>
        <p:spPr>
          <a:xfrm>
            <a:off x="457200" y="952500"/>
            <a:ext cx="11277600" cy="4857750"/>
          </a:xfrm>
          <a:prstGeom prst="rect">
            <a:avLst/>
          </a:prstGeom>
          <a:solidFill>
            <a:srgbClr val="111111"/>
          </a:solidFill>
          <a:ln w="9525">
            <a:solidFill>
              <a:srgbClr val="5A5A5A"/>
            </a:solidFill>
            <a:prstDash val="solid"/>
          </a:ln>
        </p:spPr>
      </p:sp>
      <p:pic>
        <p:nvPicPr>
          <p:cNvPr id="12" name="圖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1780113"/>
            <a:ext cx="11277600" cy="320252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97ACD12-7611-4C6B-B86A-5728049F0C46}"/>
              </a:ext>
            </a:extLst>
          </p:cNvPr>
          <p:cNvSpPr>
            <a:spLocks noGrp="1"/>
          </p:cNvSpPr>
          <p:nvPr/>
        </p:nvSpPr>
        <p:spPr>
          <a:xfrm>
            <a:off x="666750" y="5876925"/>
            <a:ext cx="1085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只連結一份短文件，保持聚焦檢索後提出指定問題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1EE71C9-9037-43A6-899F-D702EB3D17B9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3140555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B766B676-F03B-44B1-AE03-1E6C880A49F1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再用 Full Context 重做一次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24863F-ADCC-4A05-82A8-8243DD1AEA26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文件問答 · 20/34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562AAA6-BFEE-45BA-B412-A0DFBC53404A}"/>
              </a:ext>
            </a:extLst>
          </p:cNvPr>
          <p:cNvSpPr>
            <a:spLocks noGrp="1"/>
          </p:cNvSpPr>
          <p:nvPr/>
        </p:nvSpPr>
        <p:spPr>
          <a:xfrm>
            <a:off x="609600" y="1409700"/>
            <a:ext cx="819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8B7C342-79A1-44DF-9883-099087BA1944}"/>
              </a:ext>
            </a:extLst>
          </p:cNvPr>
          <p:cNvSpPr>
            <a:spLocks noGrp="1"/>
          </p:cNvSpPr>
          <p:nvPr/>
        </p:nvSpPr>
        <p:spPr>
          <a:xfrm>
            <a:off x="1638300" y="1447800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建立另一個新對話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F8019B-89B6-49BB-A6BF-13479A2141CC}"/>
              </a:ext>
            </a:extLst>
          </p:cNvPr>
          <p:cNvSpPr>
            <a:spLocks noGrp="1"/>
          </p:cNvSpPr>
          <p:nvPr/>
        </p:nvSpPr>
        <p:spPr>
          <a:xfrm>
            <a:off x="5219700" y="14859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選擇相同模型與相同文件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8C7D1E-F475-4596-8607-782EB201937D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10801350" cy="9525"/>
          </a:xfrm>
          <a:prstGeom prst="rect">
            <a:avLst/>
          </a:prstGeom>
          <a:solidFill>
            <a:srgbClr val="232323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4CA2E6-53FB-4837-A911-6146BA544D5F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819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09D8B8-EF87-4D6A-9FCC-55FB317B5110}"/>
              </a:ext>
            </a:extLst>
          </p:cNvPr>
          <p:cNvSpPr>
            <a:spLocks noGrp="1"/>
          </p:cNvSpPr>
          <p:nvPr/>
        </p:nvSpPr>
        <p:spPr>
          <a:xfrm>
            <a:off x="1638300" y="2400300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點選文件名稱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84B77C-A087-482A-9F1E-FE9568DCD3FE}"/>
              </a:ext>
            </a:extLst>
          </p:cNvPr>
          <p:cNvSpPr>
            <a:spLocks noGrp="1"/>
          </p:cNvSpPr>
          <p:nvPr/>
        </p:nvSpPr>
        <p:spPr>
          <a:xfrm>
            <a:off x="5219700" y="24384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開啟文件模式視窗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7A4915-EB90-44AD-8020-C13928D01973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10801350" cy="9525"/>
          </a:xfrm>
          <a:prstGeom prst="rect">
            <a:avLst/>
          </a:prstGeom>
          <a:solidFill>
            <a:srgbClr val="232323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90D7387-C8BE-439D-840C-9772C3122702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819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1FC3C97-0282-4402-AAE1-77CC13668E10}"/>
              </a:ext>
            </a:extLst>
          </p:cNvPr>
          <p:cNvSpPr>
            <a:spLocks noGrp="1"/>
          </p:cNvSpPr>
          <p:nvPr/>
        </p:nvSpPr>
        <p:spPr>
          <a:xfrm>
            <a:off x="1638300" y="3352800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將開關切為開啟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E38B4B-C0BB-4936-BC58-961A5EEB48CC}"/>
              </a:ext>
            </a:extLst>
          </p:cNvPr>
          <p:cNvSpPr>
            <a:spLocks noGrp="1"/>
          </p:cNvSpPr>
          <p:nvPr/>
        </p:nvSpPr>
        <p:spPr>
          <a:xfrm>
            <a:off x="5219700" y="33909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確認顯示「使用完整檔案」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3B85584-7D63-4692-BE86-72CB8744BE87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10801350" cy="9525"/>
          </a:xfrm>
          <a:prstGeom prst="rect">
            <a:avLst/>
          </a:prstGeom>
          <a:solidFill>
            <a:srgbClr val="232323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16166A8-57CC-4C28-B78D-22FE6221316F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819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10B8067-509B-45C6-BF8C-75DBC30078B2}"/>
              </a:ext>
            </a:extLst>
          </p:cNvPr>
          <p:cNvSpPr>
            <a:spLocks noGrp="1"/>
          </p:cNvSpPr>
          <p:nvPr/>
        </p:nvSpPr>
        <p:spPr>
          <a:xfrm>
            <a:off x="1638300" y="4305300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輸入相同問題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97A4F36-CE97-475C-8CE9-155CC1FDBD5B}"/>
              </a:ext>
            </a:extLst>
          </p:cNvPr>
          <p:cNvSpPr>
            <a:spLocks noGrp="1"/>
          </p:cNvSpPr>
          <p:nvPr/>
        </p:nvSpPr>
        <p:spPr>
          <a:xfrm>
            <a:off x="5219700" y="43434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保留回答、來源與等待時間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82C9C0A-B0B5-46F7-B1FC-9DA9188F5AFF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08013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只對單一短文件使用 Full Context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D9B0E2C-9B22-4BD3-BB63-C758637095F5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585779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4A0A8A3-A4AB-4748-8B76-51675CE8A5BE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比較兩次回答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1D86DB6-0ACE-470E-BE9A-A4D7F3CC0AD0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文件問答 · 21/34</a:t>
            </a:r>
          </a:p>
        </p:txBody>
      </p:sp>
      <p:graphicFrame>
        <p:nvGraphicFramePr>
          <p:cNvPr id="10" name="表格 7"/>
          <p:cNvGraphicFramePr/>
          <p:nvPr/>
        </p:nvGraphicFramePr>
        <p:xfrm>
          <a:off x="457200" y="1381125"/>
          <a:ext cx="11277600" cy="3905250"/>
        </p:xfrm>
        <a:graphic>
          <a:graphicData uri="http://schemas.openxmlformats.org/drawingml/2006/table">
            <a:tbl>
              <a:tblPr firstRow="1"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7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7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105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470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比較項目</a:t>
                      </a:r>
                    </a:p>
                  </a:txBody>
                  <a:tcPr marL="114300" marR="114300" marT="95250" marB="95250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470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Focused Retrieval</a:t>
                      </a:r>
                    </a:p>
                  </a:txBody>
                  <a:tcPr marL="114300" marR="114300" marT="95250" marB="95250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470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Full Context</a:t>
                      </a:r>
                    </a:p>
                  </a:txBody>
                  <a:tcPr marL="114300" marR="114300" marT="95250" marB="95250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是否涵蓋指定主題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記錄結果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記錄結果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使用哪些來源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記錄檔名與片段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記錄檔名與片段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是否遺漏跨段落內容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是／否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是／否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等待時間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記錄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記錄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3FD705EC-BB42-4F52-A31B-CFE9E39DD8CA}"/>
              </a:ext>
            </a:extLst>
          </p:cNvPr>
          <p:cNvSpPr>
            <a:spLocks noGrp="1"/>
          </p:cNvSpPr>
          <p:nvPr/>
        </p:nvSpPr>
        <p:spPr>
          <a:xfrm>
            <a:off x="666750" y="55721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使用完全相同的問題，才容易看出差異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110860-E0A4-4768-8405-4E6913E9EA2D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2581027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2462D49-463E-477A-A3AF-8F1073EC646D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問題越明確，越容易找到內容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97DA52-5551-4EA4-926A-D62F6EA1C3CA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文件問答 · 22/34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F179FB-B684-47D2-8F59-1E72CEEF9367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2190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查找事實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870EDA-083B-416F-8B19-96EE560A6704}"/>
              </a:ext>
            </a:extLst>
          </p:cNvPr>
          <p:cNvSpPr>
            <a:spLocks noGrp="1"/>
          </p:cNvSpPr>
          <p:nvPr/>
        </p:nvSpPr>
        <p:spPr>
          <a:xfrm>
            <a:off x="3048000" y="1428750"/>
            <a:ext cx="8191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文件對某項內容有何說明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AF7AD5-BC55-41FE-BCC5-5A2D5235D11B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10629900" cy="9525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2A928C-466B-4542-A629-5DEB9A176778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2190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整理重點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E1329F-DA92-4E73-81E7-3B77FE38620A}"/>
              </a:ext>
            </a:extLst>
          </p:cNvPr>
          <p:cNvSpPr>
            <a:spLocks noGrp="1"/>
          </p:cNvSpPr>
          <p:nvPr/>
        </p:nvSpPr>
        <p:spPr>
          <a:xfrm>
            <a:off x="3048000" y="2266950"/>
            <a:ext cx="8191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整理指定主題的三項重點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0B35B9-63B0-450E-80D4-628FDE6A563E}"/>
              </a:ext>
            </a:extLst>
          </p:cNvPr>
          <p:cNvSpPr>
            <a:spLocks noGrp="1"/>
          </p:cNvSpPr>
          <p:nvPr/>
        </p:nvSpPr>
        <p:spPr>
          <a:xfrm>
            <a:off x="609600" y="2886075"/>
            <a:ext cx="10629900" cy="9525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CC51F17-3D37-4164-83ED-02E6248D2D4B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2190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比較差異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E41E96-9F89-4941-93E0-3ED0C0475C56}"/>
              </a:ext>
            </a:extLst>
          </p:cNvPr>
          <p:cNvSpPr>
            <a:spLocks noGrp="1"/>
          </p:cNvSpPr>
          <p:nvPr/>
        </p:nvSpPr>
        <p:spPr>
          <a:xfrm>
            <a:off x="3048000" y="3105150"/>
            <a:ext cx="8191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比較指定文件的相同與不同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1CF9C06-577B-4412-8D7D-28373B64682D}"/>
              </a:ext>
            </a:extLst>
          </p:cNvPr>
          <p:cNvSpPr>
            <a:spLocks noGrp="1"/>
          </p:cNvSpPr>
          <p:nvPr/>
        </p:nvSpPr>
        <p:spPr>
          <a:xfrm>
            <a:off x="609600" y="3724275"/>
            <a:ext cx="10629900" cy="9525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E10F571-3C8F-43E0-8AAD-648EA186AC3B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2190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尋找證據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EC2847-A6A2-4325-91BF-A3A741BAEE83}"/>
              </a:ext>
            </a:extLst>
          </p:cNvPr>
          <p:cNvSpPr>
            <a:spLocks noGrp="1"/>
          </p:cNvSpPr>
          <p:nvPr/>
        </p:nvSpPr>
        <p:spPr>
          <a:xfrm>
            <a:off x="3048000" y="3943350"/>
            <a:ext cx="8191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列出支持或反對某項說法的內容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05B5A11-A354-456D-8384-E0E3FC9CCF2E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10629900" cy="9525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427720-9EB2-4339-A5E5-A87B5C343BA2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2190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確認缺口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AADE43-A305-4A3A-80A0-AEB5AE69A8C7}"/>
              </a:ext>
            </a:extLst>
          </p:cNvPr>
          <p:cNvSpPr>
            <a:spLocks noGrp="1"/>
          </p:cNvSpPr>
          <p:nvPr/>
        </p:nvSpPr>
        <p:spPr>
          <a:xfrm>
            <a:off x="3048000" y="4781550"/>
            <a:ext cx="8191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哪些問題無法由目前資料回答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3606A35-E542-448F-82D3-CAE0AA360784}"/>
              </a:ext>
            </a:extLst>
          </p:cNvPr>
          <p:cNvSpPr>
            <a:spLocks noGrp="1"/>
          </p:cNvSpPr>
          <p:nvPr/>
        </p:nvSpPr>
        <p:spPr>
          <a:xfrm>
            <a:off x="609600" y="5400675"/>
            <a:ext cx="10629900" cy="9525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8B0EC3E-4B59-4C47-9F0D-5D64A5EDDFFD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1692635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C45F8AF6-630E-4DB1-B928-04AACB264C6A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回答附來源，仍要回到原文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933E76-8919-4560-888E-686206467619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引用查核 · 23/34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F7C906-1A94-4C67-A705-C97283583F4E}"/>
              </a:ext>
            </a:extLst>
          </p:cNvPr>
          <p:cNvSpPr>
            <a:spLocks noGrp="1"/>
          </p:cNvSpPr>
          <p:nvPr/>
        </p:nvSpPr>
        <p:spPr>
          <a:xfrm>
            <a:off x="609600" y="1409700"/>
            <a:ext cx="819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CDD6BD-D03D-4733-8C10-DD2B8781DC7F}"/>
              </a:ext>
            </a:extLst>
          </p:cNvPr>
          <p:cNvSpPr>
            <a:spLocks noGrp="1"/>
          </p:cNvSpPr>
          <p:nvPr/>
        </p:nvSpPr>
        <p:spPr>
          <a:xfrm>
            <a:off x="1638300" y="1447800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找出回答主張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E70405-055C-4595-BF41-7E5F2C37A3F8}"/>
              </a:ext>
            </a:extLst>
          </p:cNvPr>
          <p:cNvSpPr>
            <a:spLocks noGrp="1"/>
          </p:cNvSpPr>
          <p:nvPr/>
        </p:nvSpPr>
        <p:spPr>
          <a:xfrm>
            <a:off x="5219700" y="14859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先辨認模型實際說了什麼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2759FD5-F15E-4018-96DD-49CCEE6E62F6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10801350" cy="9525"/>
          </a:xfrm>
          <a:prstGeom prst="rect">
            <a:avLst/>
          </a:prstGeom>
          <a:solidFill>
            <a:srgbClr val="232323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775B310-9760-45C3-BEFD-26752F9AD08A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819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91C56A7-A3DB-4308-A710-62962AEECF8C}"/>
              </a:ext>
            </a:extLst>
          </p:cNvPr>
          <p:cNvSpPr>
            <a:spLocks noGrp="1"/>
          </p:cNvSpPr>
          <p:nvPr/>
        </p:nvSpPr>
        <p:spPr>
          <a:xfrm>
            <a:off x="1638300" y="2400300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開啟來源標記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CA46C0-EC45-46C0-9BC9-89DB4337FC01}"/>
              </a:ext>
            </a:extLst>
          </p:cNvPr>
          <p:cNvSpPr>
            <a:spLocks noGrp="1"/>
          </p:cNvSpPr>
          <p:nvPr/>
        </p:nvSpPr>
        <p:spPr>
          <a:xfrm>
            <a:off x="5219700" y="24384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記錄檔名與引用片段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A21478-76E7-4546-80FD-E57641961809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10801350" cy="9525"/>
          </a:xfrm>
          <a:prstGeom prst="rect">
            <a:avLst/>
          </a:prstGeom>
          <a:solidFill>
            <a:srgbClr val="232323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C229379-A38B-4D75-92BF-D49DE97BAA13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819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9B3D641-B3BE-41D7-98D5-8936FFC29CB8}"/>
              </a:ext>
            </a:extLst>
          </p:cNvPr>
          <p:cNvSpPr>
            <a:spLocks noGrp="1"/>
          </p:cNvSpPr>
          <p:nvPr/>
        </p:nvSpPr>
        <p:spPr>
          <a:xfrm>
            <a:off x="1638300" y="3352800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搜尋原始文件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044B5D-15AB-4D9F-97DF-10B760394CD6}"/>
              </a:ext>
            </a:extLst>
          </p:cNvPr>
          <p:cNvSpPr>
            <a:spLocks noGrp="1"/>
          </p:cNvSpPr>
          <p:nvPr/>
        </p:nvSpPr>
        <p:spPr>
          <a:xfrm>
            <a:off x="5219700" y="33909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確認相同內容真的存在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0C55B3-2CB5-4DD0-A893-90B558EF8AA9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10801350" cy="9525"/>
          </a:xfrm>
          <a:prstGeom prst="rect">
            <a:avLst/>
          </a:prstGeom>
          <a:solidFill>
            <a:srgbClr val="232323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EACDB36-7435-48E1-8490-8F681211AB45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819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0C26F84-C55C-4388-BBE9-39EA101D1EC4}"/>
              </a:ext>
            </a:extLst>
          </p:cNvPr>
          <p:cNvSpPr>
            <a:spLocks noGrp="1"/>
          </p:cNvSpPr>
          <p:nvPr/>
        </p:nvSpPr>
        <p:spPr>
          <a:xfrm>
            <a:off x="1638300" y="4305300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判定支持程度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6D5E51E-D6CF-473D-84BF-44ED7940958C}"/>
              </a:ext>
            </a:extLst>
          </p:cNvPr>
          <p:cNvSpPr>
            <a:spLocks noGrp="1"/>
          </p:cNvSpPr>
          <p:nvPr/>
        </p:nvSpPr>
        <p:spPr>
          <a:xfrm>
            <a:off x="5219700" y="43434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直接支持、部分支持、不支持或資料不足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B9AF608-3316-4734-989B-A303967AD811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08013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來源標記只代表系統曾參考，不代表回答必然正確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CEE3CB7-02E7-4989-9DB9-B5D2515E72D2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7556153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4A485157-3804-4B20-A9C9-72285389463C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測試資料不足與跨文件差異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651CEC-27C6-4CB5-BC16-8B10D634EB60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引用查核 · 24/34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F6F9F68-524A-47F3-8521-A12711BB8BF2}"/>
              </a:ext>
            </a:extLst>
          </p:cNvPr>
          <p:cNvSpPr>
            <a:spLocks noGrp="1"/>
          </p:cNvSpPr>
          <p:nvPr/>
        </p:nvSpPr>
        <p:spPr>
          <a:xfrm>
            <a:off x="457200" y="1352550"/>
            <a:ext cx="5486400" cy="4000500"/>
          </a:xfrm>
          <a:prstGeom prst="roundRect">
            <a:avLst>
              <a:gd name="adj" fmla="val 2857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575F3F8-31D5-4D63-B887-0501D6D40548}"/>
              </a:ext>
            </a:extLst>
          </p:cNvPr>
          <p:cNvSpPr>
            <a:spLocks noGrp="1"/>
          </p:cNvSpPr>
          <p:nvPr/>
        </p:nvSpPr>
        <p:spPr>
          <a:xfrm>
            <a:off x="723900" y="1657350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資料不足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24BAAD-5294-4A58-BE67-1AEB5F177124}"/>
              </a:ext>
            </a:extLst>
          </p:cNvPr>
          <p:cNvSpPr>
            <a:spLocks noGrp="1"/>
          </p:cNvSpPr>
          <p:nvPr/>
        </p:nvSpPr>
        <p:spPr>
          <a:xfrm>
            <a:off x="723900" y="2114550"/>
            <a:ext cx="4953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沒有證據就停下來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3B010D-D410-49A8-AD96-3FF2D2709664}"/>
              </a:ext>
            </a:extLst>
          </p:cNvPr>
          <p:cNvSpPr>
            <a:spLocks noGrp="1"/>
          </p:cNvSpPr>
          <p:nvPr/>
        </p:nvSpPr>
        <p:spPr>
          <a:xfrm>
            <a:off x="723900" y="2895600"/>
            <a:ext cx="49530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285750" indent="-285750" algn="l">
              <a:lnSpc>
                <a:spcPct val="150000"/>
              </a:lnSpc>
              <a:buFont typeface="Arial"/>
              <a:buChar char="•"/>
              <a:def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指出目前缺少什麼資料</a:t>
            </a:r>
          </a:p>
          <a:p>
            <a:pPr marL="285750" indent="-285750" algn="l">
              <a:lnSpc>
                <a:spcPct val="150000"/>
              </a:lnSpc>
              <a:buFont typeface="Arial"/>
              <a:buChar char="•"/>
              <a:def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不要利用一般常識補答案</a:t>
            </a:r>
          </a:p>
          <a:p>
            <a:pPr marL="285750" indent="-285750" algn="l">
              <a:lnSpc>
                <a:spcPct val="150000"/>
              </a:lnSpc>
              <a:buFont typeface="Arial"/>
              <a:buChar char="•"/>
              <a:def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保留無法判斷的界線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748A2FE9-90E8-435A-BF25-84C4FFAD4847}"/>
              </a:ext>
            </a:extLst>
          </p:cNvPr>
          <p:cNvSpPr>
            <a:spLocks noGrp="1"/>
          </p:cNvSpPr>
          <p:nvPr/>
        </p:nvSpPr>
        <p:spPr>
          <a:xfrm>
            <a:off x="6248400" y="1352550"/>
            <a:ext cx="5486400" cy="4000500"/>
          </a:xfrm>
          <a:prstGeom prst="roundRect">
            <a:avLst>
              <a:gd name="adj" fmla="val 2857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BA7AA1D-3324-4DD5-9FF0-5B45EB3CCE88}"/>
              </a:ext>
            </a:extLst>
          </p:cNvPr>
          <p:cNvSpPr>
            <a:spLocks noGrp="1"/>
          </p:cNvSpPr>
          <p:nvPr/>
        </p:nvSpPr>
        <p:spPr>
          <a:xfrm>
            <a:off x="6515100" y="1657350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跨文件比較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2FDE35-20C4-451D-9341-2407F34DD3D2}"/>
              </a:ext>
            </a:extLst>
          </p:cNvPr>
          <p:cNvSpPr>
            <a:spLocks noGrp="1"/>
          </p:cNvSpPr>
          <p:nvPr/>
        </p:nvSpPr>
        <p:spPr>
          <a:xfrm>
            <a:off x="6515100" y="2114550"/>
            <a:ext cx="4953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分開保留不同說法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FF7BAC-2E60-45BE-B87C-6E4CE86C98CB}"/>
              </a:ext>
            </a:extLst>
          </p:cNvPr>
          <p:cNvSpPr>
            <a:spLocks noGrp="1"/>
          </p:cNvSpPr>
          <p:nvPr/>
        </p:nvSpPr>
        <p:spPr>
          <a:xfrm>
            <a:off x="6515100" y="2895600"/>
            <a:ext cx="49530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285750" indent="-285750" algn="l">
              <a:lnSpc>
                <a:spcPct val="150000"/>
              </a:lnSpc>
              <a:buFont typeface="Arial"/>
              <a:buChar char="•"/>
              <a:def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共同觀點</a:t>
            </a:r>
          </a:p>
          <a:p>
            <a:pPr marL="285750" indent="-285750" algn="l">
              <a:lnSpc>
                <a:spcPct val="150000"/>
              </a:lnSpc>
              <a:buFont typeface="Arial"/>
              <a:buChar char="•"/>
              <a:def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相反或不一致內容</a:t>
            </a:r>
          </a:p>
          <a:p>
            <a:pPr marL="285750" indent="-285750" algn="l">
              <a:lnSpc>
                <a:spcPct val="150000"/>
              </a:lnSpc>
              <a:buFont typeface="Arial"/>
              <a:buChar char="•"/>
              <a:def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各文件特有內容與缺口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D0136B-DA62-481D-9C19-EE40DD6E9B96}"/>
              </a:ext>
            </a:extLst>
          </p:cNvPr>
          <p:cNvSpPr>
            <a:spLocks noGrp="1"/>
          </p:cNvSpPr>
          <p:nvPr/>
        </p:nvSpPr>
        <p:spPr>
          <a:xfrm>
            <a:off x="666750" y="5695950"/>
            <a:ext cx="1085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不同文件不必急著合併成單一結論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03204AF-4D14-46C2-9FEE-9C375324B356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136447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A48EF42A-3F33-42C6-80D2-B4C9417DC619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把 v1 更新成 v2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0C4EF2A-F7A1-4C4D-9033-FB1D6E05933A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資料維護 · 25/34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0C5B8F4E-EED4-484D-B4BD-E92C0D09E147}"/>
              </a:ext>
            </a:extLst>
          </p:cNvPr>
          <p:cNvSpPr>
            <a:spLocks noGrp="1"/>
          </p:cNvSpPr>
          <p:nvPr/>
        </p:nvSpPr>
        <p:spPr>
          <a:xfrm>
            <a:off x="476250" y="2190750"/>
            <a:ext cx="2476500" cy="1952625"/>
          </a:xfrm>
          <a:prstGeom prst="roundRect">
            <a:avLst>
              <a:gd name="adj" fmla="val 5854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59CF935-98A2-4555-8954-AA83ACB65D2C}"/>
              </a:ext>
            </a:extLst>
          </p:cNvPr>
          <p:cNvSpPr>
            <a:spLocks noGrp="1"/>
          </p:cNvSpPr>
          <p:nvPr/>
        </p:nvSpPr>
        <p:spPr>
          <a:xfrm>
            <a:off x="704850" y="2381250"/>
            <a:ext cx="666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FF91E52-51EA-48DD-8500-71AE30A51B9C}"/>
              </a:ext>
            </a:extLst>
          </p:cNvPr>
          <p:cNvSpPr>
            <a:spLocks noGrp="1"/>
          </p:cNvSpPr>
          <p:nvPr/>
        </p:nvSpPr>
        <p:spPr>
          <a:xfrm>
            <a:off x="704850" y="3048000"/>
            <a:ext cx="2019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保留 v1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F13FA23-6C4E-4947-B834-BB20F64E923D}"/>
              </a:ext>
            </a:extLst>
          </p:cNvPr>
          <p:cNvSpPr>
            <a:spLocks noGrp="1"/>
          </p:cNvSpPr>
          <p:nvPr/>
        </p:nvSpPr>
        <p:spPr>
          <a:xfrm>
            <a:off x="704850" y="3543300"/>
            <a:ext cx="20193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本機原始檔仍可回查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E790CD-095C-4115-A602-AD81CA72B7B7}"/>
              </a:ext>
            </a:extLst>
          </p:cNvPr>
          <p:cNvSpPr>
            <a:spLocks noGrp="1"/>
          </p:cNvSpPr>
          <p:nvPr/>
        </p:nvSpPr>
        <p:spPr>
          <a:xfrm>
            <a:off x="2971800" y="2905125"/>
            <a:ext cx="4000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40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DF6B96B-9D42-445C-89B0-5B0463A878BB}"/>
              </a:ext>
            </a:extLst>
          </p:cNvPr>
          <p:cNvSpPr>
            <a:spLocks noGrp="1"/>
          </p:cNvSpPr>
          <p:nvPr/>
        </p:nvSpPr>
        <p:spPr>
          <a:xfrm>
            <a:off x="3371850" y="2190750"/>
            <a:ext cx="2476500" cy="1952625"/>
          </a:xfrm>
          <a:prstGeom prst="roundRect">
            <a:avLst>
              <a:gd name="adj" fmla="val 5854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6306F9-9EF5-43AC-B397-AAD1F85BE0B5}"/>
              </a:ext>
            </a:extLst>
          </p:cNvPr>
          <p:cNvSpPr>
            <a:spLocks noGrp="1"/>
          </p:cNvSpPr>
          <p:nvPr/>
        </p:nvSpPr>
        <p:spPr>
          <a:xfrm>
            <a:off x="3600450" y="2381250"/>
            <a:ext cx="666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D9DAB83-56EC-4EF7-8A13-54BA8D6D87C0}"/>
              </a:ext>
            </a:extLst>
          </p:cNvPr>
          <p:cNvSpPr>
            <a:spLocks noGrp="1"/>
          </p:cNvSpPr>
          <p:nvPr/>
        </p:nvSpPr>
        <p:spPr>
          <a:xfrm>
            <a:off x="3600450" y="3048000"/>
            <a:ext cx="2019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另存 v2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7BF4E4B-539C-4B0D-8035-8072AE07D123}"/>
              </a:ext>
            </a:extLst>
          </p:cNvPr>
          <p:cNvSpPr>
            <a:spLocks noGrp="1"/>
          </p:cNvSpPr>
          <p:nvPr/>
        </p:nvSpPr>
        <p:spPr>
          <a:xfrm>
            <a:off x="3600450" y="3543300"/>
            <a:ext cx="20193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修改歸還時間並加入 UPDATE-07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F57400-10FD-4375-8AF8-F8E6D4D2FA7A}"/>
              </a:ext>
            </a:extLst>
          </p:cNvPr>
          <p:cNvSpPr>
            <a:spLocks noGrp="1"/>
          </p:cNvSpPr>
          <p:nvPr/>
        </p:nvSpPr>
        <p:spPr>
          <a:xfrm>
            <a:off x="5867400" y="2905125"/>
            <a:ext cx="4000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40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23F3BDEF-21B1-44D6-9CD6-6CF64AF61053}"/>
              </a:ext>
            </a:extLst>
          </p:cNvPr>
          <p:cNvSpPr>
            <a:spLocks noGrp="1"/>
          </p:cNvSpPr>
          <p:nvPr/>
        </p:nvSpPr>
        <p:spPr>
          <a:xfrm>
            <a:off x="6267450" y="2190750"/>
            <a:ext cx="2476500" cy="1952625"/>
          </a:xfrm>
          <a:prstGeom prst="roundRect">
            <a:avLst>
              <a:gd name="adj" fmla="val 5854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37B38B-21C9-44E9-B917-90FC636B338E}"/>
              </a:ext>
            </a:extLst>
          </p:cNvPr>
          <p:cNvSpPr>
            <a:spLocks noGrp="1"/>
          </p:cNvSpPr>
          <p:nvPr/>
        </p:nvSpPr>
        <p:spPr>
          <a:xfrm>
            <a:off x="6496050" y="2381250"/>
            <a:ext cx="666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552E5C3-25CF-40D2-A2EB-33A579638EA0}"/>
              </a:ext>
            </a:extLst>
          </p:cNvPr>
          <p:cNvSpPr>
            <a:spLocks noGrp="1"/>
          </p:cNvSpPr>
          <p:nvPr/>
        </p:nvSpPr>
        <p:spPr>
          <a:xfrm>
            <a:off x="6496050" y="3048000"/>
            <a:ext cx="2019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上傳 v2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1BEB6DE-5D6C-4C36-AB60-E8745BEB3A05}"/>
              </a:ext>
            </a:extLst>
          </p:cNvPr>
          <p:cNvSpPr>
            <a:spLocks noGrp="1"/>
          </p:cNvSpPr>
          <p:nvPr/>
        </p:nvSpPr>
        <p:spPr>
          <a:xfrm>
            <a:off x="6496050" y="3543300"/>
            <a:ext cx="20193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等待文件處理完成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99DE571-A393-46C7-AAD6-801030345B46}"/>
              </a:ext>
            </a:extLst>
          </p:cNvPr>
          <p:cNvSpPr>
            <a:spLocks noGrp="1"/>
          </p:cNvSpPr>
          <p:nvPr/>
        </p:nvSpPr>
        <p:spPr>
          <a:xfrm>
            <a:off x="8763000" y="2905125"/>
            <a:ext cx="4000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40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0A6B93CB-6E47-48A2-A9AA-D64B19F16220}"/>
              </a:ext>
            </a:extLst>
          </p:cNvPr>
          <p:cNvSpPr>
            <a:spLocks noGrp="1"/>
          </p:cNvSpPr>
          <p:nvPr/>
        </p:nvSpPr>
        <p:spPr>
          <a:xfrm>
            <a:off x="9163050" y="2190750"/>
            <a:ext cx="2476500" cy="1952625"/>
          </a:xfrm>
          <a:prstGeom prst="roundRect">
            <a:avLst>
              <a:gd name="adj" fmla="val 5854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C7FC244-8498-48CB-92D2-D1DF9847DA4A}"/>
              </a:ext>
            </a:extLst>
          </p:cNvPr>
          <p:cNvSpPr>
            <a:spLocks noGrp="1"/>
          </p:cNvSpPr>
          <p:nvPr/>
        </p:nvSpPr>
        <p:spPr>
          <a:xfrm>
            <a:off x="9391650" y="2381250"/>
            <a:ext cx="666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60E1CAB-4F4F-4136-A5ED-5723EB6B2D88}"/>
              </a:ext>
            </a:extLst>
          </p:cNvPr>
          <p:cNvSpPr>
            <a:spLocks noGrp="1"/>
          </p:cNvSpPr>
          <p:nvPr/>
        </p:nvSpPr>
        <p:spPr>
          <a:xfrm>
            <a:off x="9391650" y="3048000"/>
            <a:ext cx="2019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驗證新規則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75EE2F3-13BA-425E-BA61-7700265621E2}"/>
              </a:ext>
            </a:extLst>
          </p:cNvPr>
          <p:cNvSpPr>
            <a:spLocks noGrp="1"/>
          </p:cNvSpPr>
          <p:nvPr/>
        </p:nvSpPr>
        <p:spPr>
          <a:xfrm>
            <a:off x="9391650" y="3543300"/>
            <a:ext cx="20193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回答應引用 v2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91464F0-BDD1-49DC-83CB-BB4ECFE338EF}"/>
              </a:ext>
            </a:extLst>
          </p:cNvPr>
          <p:cNvSpPr>
            <a:spLocks noGrp="1"/>
          </p:cNvSpPr>
          <p:nvPr/>
        </p:nvSpPr>
        <p:spPr>
          <a:xfrm>
            <a:off x="666750" y="4953000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確認 v2 正確後，再從知識庫移除 v1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1FC9A93-4CB6-4F83-8834-99706827DB6A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3119943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D9A9EFFB-B549-4AF1-ADA6-AD1EDCCC321F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驗證新版，再移除舊版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311A6C-5064-445A-99C5-4DC1A77DDC7A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資料維護 · 26/34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ECFFBB-F519-45ED-9970-E5AE1027D346}"/>
              </a:ext>
            </a:extLst>
          </p:cNvPr>
          <p:cNvSpPr>
            <a:spLocks noGrp="1"/>
          </p:cNvSpPr>
          <p:nvPr/>
        </p:nvSpPr>
        <p:spPr>
          <a:xfrm>
            <a:off x="609600" y="1409700"/>
            <a:ext cx="819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6596F48-4F56-4E35-B281-A7AD45AAB458}"/>
              </a:ext>
            </a:extLst>
          </p:cNvPr>
          <p:cNvSpPr>
            <a:spLocks noGrp="1"/>
          </p:cNvSpPr>
          <p:nvPr/>
        </p:nvSpPr>
        <p:spPr>
          <a:xfrm>
            <a:off x="1638300" y="1447800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建立新對話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AEFD70-CB09-4E39-BC8E-071F556305A4}"/>
              </a:ext>
            </a:extLst>
          </p:cNvPr>
          <p:cNvSpPr>
            <a:spLocks noGrp="1"/>
          </p:cNvSpPr>
          <p:nvPr/>
        </p:nvSpPr>
        <p:spPr>
          <a:xfrm>
            <a:off x="5219700" y="14859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避免沿用舊對話的內容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A76E1E4-4680-4CBA-B54F-7D6743FD39C2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10801350" cy="9525"/>
          </a:xfrm>
          <a:prstGeom prst="rect">
            <a:avLst/>
          </a:prstGeom>
          <a:solidFill>
            <a:srgbClr val="232323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89A2EF-DFA5-4E3B-925B-9C9918BB9C20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819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59D1C5-8FFF-4687-A44D-0ECB23D7EE39}"/>
              </a:ext>
            </a:extLst>
          </p:cNvPr>
          <p:cNvSpPr>
            <a:spLocks noGrp="1"/>
          </p:cNvSpPr>
          <p:nvPr/>
        </p:nvSpPr>
        <p:spPr>
          <a:xfrm>
            <a:off x="1638300" y="2400300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詢問更新項目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4C926A-59E3-448A-AF85-8896E55D8B4D}"/>
              </a:ext>
            </a:extLst>
          </p:cNvPr>
          <p:cNvSpPr>
            <a:spLocks noGrp="1"/>
          </p:cNvSpPr>
          <p:nvPr/>
        </p:nvSpPr>
        <p:spPr>
          <a:xfrm>
            <a:off x="5219700" y="24384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歸還時間與 UPDATE-07 都要能回答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4EC0BC1-0D6A-4C10-A27D-66A7DC35C985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10801350" cy="9525"/>
          </a:xfrm>
          <a:prstGeom prst="rect">
            <a:avLst/>
          </a:prstGeom>
          <a:solidFill>
            <a:srgbClr val="232323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75AB3F3-6A97-4900-8AB5-72D0BF098924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819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54DDF8-0CDE-4433-BE60-B43F27515BF8}"/>
              </a:ext>
            </a:extLst>
          </p:cNvPr>
          <p:cNvSpPr>
            <a:spLocks noGrp="1"/>
          </p:cNvSpPr>
          <p:nvPr/>
        </p:nvSpPr>
        <p:spPr>
          <a:xfrm>
            <a:off x="1638300" y="3352800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查核來源檔名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86153E0-5A8D-4F1E-811E-EBC8FD40126F}"/>
              </a:ext>
            </a:extLst>
          </p:cNvPr>
          <p:cNvSpPr>
            <a:spLocks noGrp="1"/>
          </p:cNvSpPr>
          <p:nvPr/>
        </p:nvSpPr>
        <p:spPr>
          <a:xfrm>
            <a:off x="5219700" y="33909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重要主張應引用 v2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BF12771-4027-43CB-942F-7C6F77B6D546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10801350" cy="9525"/>
          </a:xfrm>
          <a:prstGeom prst="rect">
            <a:avLst/>
          </a:prstGeom>
          <a:solidFill>
            <a:srgbClr val="232323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FDF964-2D71-4AA0-B006-6402D3969B76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819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8717E19-B4F9-4C83-B508-D739F2304B4F}"/>
              </a:ext>
            </a:extLst>
          </p:cNvPr>
          <p:cNvSpPr>
            <a:spLocks noGrp="1"/>
          </p:cNvSpPr>
          <p:nvPr/>
        </p:nvSpPr>
        <p:spPr>
          <a:xfrm>
            <a:off x="1638300" y="4305300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移除 v1 後重測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902FAF7-BF2E-48A4-819A-B7674C5EA41D}"/>
              </a:ext>
            </a:extLst>
          </p:cNvPr>
          <p:cNvSpPr>
            <a:spLocks noGrp="1"/>
          </p:cNvSpPr>
          <p:nvPr/>
        </p:nvSpPr>
        <p:spPr>
          <a:xfrm>
            <a:off x="5219700" y="43434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舊規則不應再出現在回答中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141AB8C-BD76-47B8-837B-29E062C80DCF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08013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保留本機 v1 與 v2 原始檔，供後續查核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7F4DEF9-C3E1-4DFF-8D5B-C2CAA26B74AE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4785043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905D9AE-77BD-4F15-8DBD-0384E5C841A2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停止、備份與移除不是同一件事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2F2B41-2AC2-4508-9FCB-3F4F7B242E37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資料管理 · 27/34</a:t>
            </a:r>
          </a:p>
        </p:txBody>
      </p:sp>
      <p:graphicFrame>
        <p:nvGraphicFramePr>
          <p:cNvPr id="10" name="表格 7"/>
          <p:cNvGraphicFramePr/>
          <p:nvPr/>
        </p:nvGraphicFramePr>
        <p:xfrm>
          <a:off x="457200" y="1381125"/>
          <a:ext cx="11277600" cy="3905252"/>
        </p:xfrm>
        <a:graphic>
          <a:graphicData uri="http://schemas.openxmlformats.org/drawingml/2006/table">
            <a:tbl>
              <a:tblPr firstRow="1"/>
              <a:tblGrid>
                <a:gridCol w="2321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2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77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52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76313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470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操作</a:t>
                      </a:r>
                    </a:p>
                  </a:txBody>
                  <a:tcPr marL="114300" marR="114300" marT="95250" marB="95250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470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帳號、對話與知識庫</a:t>
                      </a:r>
                    </a:p>
                  </a:txBody>
                  <a:tcPr marL="114300" marR="114300" marT="95250" marB="95250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470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模型</a:t>
                      </a:r>
                    </a:p>
                  </a:txBody>
                  <a:tcPr marL="114300" marR="114300" marT="95250" marB="95250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470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下次使用</a:t>
                      </a:r>
                    </a:p>
                  </a:txBody>
                  <a:tcPr marL="114300" marR="114300" marT="95250" marB="95250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6313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停止服務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再次啟動即可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6313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備份 Open WebUI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另存重要應用資料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不包含大型模型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可用最新完整備份還原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6313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移除容器與資料卷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刪除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刪除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C8C8C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需要重新建立與下載</a:t>
                      </a:r>
                    </a:p>
                  </a:txBody>
                  <a:tcPr marL="114300" marR="114300" marT="95250" marB="9525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37974F59-9EF4-45A1-ACAB-7F1A26839E69}"/>
              </a:ext>
            </a:extLst>
          </p:cNvPr>
          <p:cNvSpPr>
            <a:spLocks noGrp="1"/>
          </p:cNvSpPr>
          <p:nvPr/>
        </p:nvSpPr>
        <p:spPr>
          <a:xfrm>
            <a:off x="666750" y="55721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完整移除留到成果驗收後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11E47B-97DE-4CA5-BB59-B04B98D1DC87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2163922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CD19522F-03E3-4401-A541-A4FF7BCFBDB2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建立一份可還原的備份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B52A5D-9EDD-45C3-8601-E3F5BE51B836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資料管理 · 28/34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5EB59B3-C827-42C1-BFC2-8385D99FA6C0}"/>
              </a:ext>
            </a:extLst>
          </p:cNvPr>
          <p:cNvSpPr>
            <a:spLocks noGrp="1"/>
          </p:cNvSpPr>
          <p:nvPr/>
        </p:nvSpPr>
        <p:spPr>
          <a:xfrm>
            <a:off x="609600" y="1409700"/>
            <a:ext cx="819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3FE6F3-361F-46FB-ADBD-E632BD8CB6A9}"/>
              </a:ext>
            </a:extLst>
          </p:cNvPr>
          <p:cNvSpPr>
            <a:spLocks noGrp="1"/>
          </p:cNvSpPr>
          <p:nvPr/>
        </p:nvSpPr>
        <p:spPr>
          <a:xfrm>
            <a:off x="1638300" y="1447800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建立備份前測試對話</a:t>
            </a:r>
            <a:endParaRPr sz="2400" b="1" dirty="0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0A415AC-DD9B-4E5A-8B29-491E96BC6FC8}"/>
              </a:ext>
            </a:extLst>
          </p:cNvPr>
          <p:cNvSpPr>
            <a:spLocks noGrp="1"/>
          </p:cNvSpPr>
          <p:nvPr/>
        </p:nvSpPr>
        <p:spPr>
          <a:xfrm>
            <a:off x="5219700" y="14859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 dirty="0" err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確認對話已出現在側邊欄</a:t>
            </a:r>
            <a:endParaRPr sz="2000" b="0" dirty="0">
              <a:solidFill>
                <a:srgbClr val="C8C8C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A5DBAE-D694-4419-893E-F69CBCDC3C01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10801350" cy="9525"/>
          </a:xfrm>
          <a:prstGeom prst="rect">
            <a:avLst/>
          </a:prstGeom>
          <a:solidFill>
            <a:srgbClr val="232323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93093C-1274-4371-BA96-4D4376BE9667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819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9F8FFF-80EB-402E-93FA-FD5382D7FE54}"/>
              </a:ext>
            </a:extLst>
          </p:cNvPr>
          <p:cNvSpPr>
            <a:spLocks noGrp="1"/>
          </p:cNvSpPr>
          <p:nvPr/>
        </p:nvSpPr>
        <p:spPr>
          <a:xfrm>
            <a:off x="1638300" y="2400300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執行備份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736EE8E-1FB6-4F39-B808-F2188EA29C96}"/>
              </a:ext>
            </a:extLst>
          </p:cNvPr>
          <p:cNvSpPr>
            <a:spLocks noGrp="1"/>
          </p:cNvSpPr>
          <p:nvPr/>
        </p:nvSpPr>
        <p:spPr>
          <a:xfrm>
            <a:off x="5219700" y="24384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開啟 08_data-management.cmd，選擇 1 後等待完成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DCD00C-2DBF-4DAD-99FA-EDBDFEF400B0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10801350" cy="9525"/>
          </a:xfrm>
          <a:prstGeom prst="rect">
            <a:avLst/>
          </a:prstGeom>
          <a:solidFill>
            <a:srgbClr val="232323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667E6C-180F-4CEB-8483-E323EAF294E6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819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C360455-539F-4897-81D6-1967DC5F1674}"/>
              </a:ext>
            </a:extLst>
          </p:cNvPr>
          <p:cNvSpPr>
            <a:spLocks noGrp="1"/>
          </p:cNvSpPr>
          <p:nvPr/>
        </p:nvSpPr>
        <p:spPr>
          <a:xfrm>
            <a:off x="1638300" y="3352800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檢查備份資料夾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4B49567-7D5D-42C3-9CD6-C3B1FD565E40}"/>
              </a:ext>
            </a:extLst>
          </p:cNvPr>
          <p:cNvSpPr>
            <a:spLocks noGrp="1"/>
          </p:cNvSpPr>
          <p:nvPr/>
        </p:nvSpPr>
        <p:spPr>
          <a:xfrm>
            <a:off x="5219700" y="33909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確認 BACKUP_INFO.txt 與 webui.db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BCECF10-9D2C-41F2-A7BE-B67560DBE89A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10801350" cy="9525"/>
          </a:xfrm>
          <a:prstGeom prst="rect">
            <a:avLst/>
          </a:prstGeom>
          <a:solidFill>
            <a:srgbClr val="232323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EA17357-7B00-4AAC-92D8-3EA389079626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819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61B5435-EB84-49CF-A132-3EE1EBCF0A70}"/>
              </a:ext>
            </a:extLst>
          </p:cNvPr>
          <p:cNvSpPr>
            <a:spLocks noGrp="1"/>
          </p:cNvSpPr>
          <p:nvPr/>
        </p:nvSpPr>
        <p:spPr>
          <a:xfrm>
            <a:off x="1638300" y="4305300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確認沒有 INCOMPLETE.txt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A2D737F-A635-4269-A601-7B761BEA9FDA}"/>
              </a:ext>
            </a:extLst>
          </p:cNvPr>
          <p:cNvSpPr>
            <a:spLocks noGrp="1"/>
          </p:cNvSpPr>
          <p:nvPr/>
        </p:nvSpPr>
        <p:spPr>
          <a:xfrm>
            <a:off x="5219700" y="43434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未完成的備份不可用於還原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5780B4-5F7F-4CCC-B7A9-4590182C2F33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08013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專案外備份：Local-AI-Backups\OpenWebUI-日期_時間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E50789F-EFC7-4ED3-ACD1-DBE9B34897BF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8764625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EA291376-BAE4-4107-B26F-3189F091EAC4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還原後要看到什麼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0C4D61-23AB-4B12-A1CF-E74979988705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資料管理 · 29/34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19DE14E-7D59-4692-AD36-80ED9F632446}"/>
              </a:ext>
            </a:extLst>
          </p:cNvPr>
          <p:cNvSpPr>
            <a:spLocks noGrp="1"/>
          </p:cNvSpPr>
          <p:nvPr/>
        </p:nvSpPr>
        <p:spPr>
          <a:xfrm>
            <a:off x="457200" y="1352550"/>
            <a:ext cx="5486400" cy="4000500"/>
          </a:xfrm>
          <a:prstGeom prst="roundRect">
            <a:avLst>
              <a:gd name="adj" fmla="val 2857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C16F8B-B0C7-4263-83C1-AD8A25DC213C}"/>
              </a:ext>
            </a:extLst>
          </p:cNvPr>
          <p:cNvSpPr>
            <a:spLocks noGrp="1"/>
          </p:cNvSpPr>
          <p:nvPr/>
        </p:nvSpPr>
        <p:spPr>
          <a:xfrm>
            <a:off x="723900" y="1657350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應該保留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3587C8-2BD5-47BC-A259-2B523CF8EEFB}"/>
              </a:ext>
            </a:extLst>
          </p:cNvPr>
          <p:cNvSpPr>
            <a:spLocks noGrp="1"/>
          </p:cNvSpPr>
          <p:nvPr/>
        </p:nvSpPr>
        <p:spPr>
          <a:xfrm>
            <a:off x="723900" y="2114550"/>
            <a:ext cx="4953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備份前的狀態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4572E66-8EFA-4D8B-B98F-BE2106917FE8}"/>
              </a:ext>
            </a:extLst>
          </p:cNvPr>
          <p:cNvSpPr>
            <a:spLocks noGrp="1"/>
          </p:cNvSpPr>
          <p:nvPr/>
        </p:nvSpPr>
        <p:spPr>
          <a:xfrm>
            <a:off x="723900" y="2895600"/>
            <a:ext cx="49530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/>
              <a:buChar char="•"/>
              <a:def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 dirty="0" err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原有帳號可登入</a:t>
            </a:r>
            <a:endParaRPr sz="2000" b="0" dirty="0">
              <a:solidFill>
                <a:srgbClr val="C8C8C8"/>
              </a:solidFill>
              <a:latin typeface="Microsoft JhengHei"/>
              <a:ea typeface="Microsoft JhengHei"/>
              <a:cs typeface="Microsoft JhengHei"/>
            </a:endParaRPr>
          </a:p>
          <a:p>
            <a:pPr marL="342900" indent="-342900" algn="l">
              <a:lnSpc>
                <a:spcPct val="150000"/>
              </a:lnSpc>
              <a:buFont typeface="Arial"/>
              <a:buChar char="•"/>
              <a:def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 dirty="0" err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備份前測試對話存在</a:t>
            </a:r>
            <a:endParaRPr sz="2000" b="0" dirty="0">
              <a:solidFill>
                <a:srgbClr val="C8C8C8"/>
              </a:solidFill>
              <a:latin typeface="Microsoft JhengHei"/>
              <a:ea typeface="Microsoft JhengHei"/>
              <a:cs typeface="Microsoft JhengHei"/>
            </a:endParaRPr>
          </a:p>
          <a:p>
            <a:pPr marL="342900" indent="-342900" algn="l">
              <a:lnSpc>
                <a:spcPct val="150000"/>
              </a:lnSpc>
              <a:buFont typeface="Arial"/>
              <a:buChar char="•"/>
              <a:def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 dirty="0" err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知識庫與文件仍可使用</a:t>
            </a:r>
            <a:endParaRPr sz="2000" b="0" dirty="0">
              <a:solidFill>
                <a:srgbClr val="C8C8C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7F58A273-8D0F-4AF2-9669-6A449A23A61B}"/>
              </a:ext>
            </a:extLst>
          </p:cNvPr>
          <p:cNvSpPr>
            <a:spLocks noGrp="1"/>
          </p:cNvSpPr>
          <p:nvPr/>
        </p:nvSpPr>
        <p:spPr>
          <a:xfrm>
            <a:off x="6248400" y="1352550"/>
            <a:ext cx="5486400" cy="4000500"/>
          </a:xfrm>
          <a:prstGeom prst="roundRect">
            <a:avLst>
              <a:gd name="adj" fmla="val 2857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FEF9DFF-29EC-48AB-A147-C1B0F80DAFE1}"/>
              </a:ext>
            </a:extLst>
          </p:cNvPr>
          <p:cNvSpPr>
            <a:spLocks noGrp="1"/>
          </p:cNvSpPr>
          <p:nvPr/>
        </p:nvSpPr>
        <p:spPr>
          <a:xfrm>
            <a:off x="6515100" y="1657350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應該消失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AE776DE-86B8-42EE-831D-EB159EF289AC}"/>
              </a:ext>
            </a:extLst>
          </p:cNvPr>
          <p:cNvSpPr>
            <a:spLocks noGrp="1"/>
          </p:cNvSpPr>
          <p:nvPr/>
        </p:nvSpPr>
        <p:spPr>
          <a:xfrm>
            <a:off x="6515100" y="2114550"/>
            <a:ext cx="4953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備份後新增的資料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3D1ADCB-A182-4333-9D89-0AB540E38699}"/>
              </a:ext>
            </a:extLst>
          </p:cNvPr>
          <p:cNvSpPr>
            <a:spLocks noGrp="1"/>
          </p:cNvSpPr>
          <p:nvPr/>
        </p:nvSpPr>
        <p:spPr>
          <a:xfrm>
            <a:off x="6515100" y="2895600"/>
            <a:ext cx="49530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/>
              <a:buChar char="•"/>
              <a:def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備份後測試對話不存在</a:t>
            </a:r>
          </a:p>
          <a:p>
            <a:pPr marL="342900" indent="-342900" algn="l">
              <a:lnSpc>
                <a:spcPct val="150000"/>
              </a:lnSpc>
              <a:buFont typeface="Arial"/>
              <a:buChar char="•"/>
              <a:def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還原回到備份當下</a:t>
            </a:r>
          </a:p>
          <a:p>
            <a:pPr marL="342900" indent="-342900" algn="l">
              <a:lnSpc>
                <a:spcPct val="150000"/>
              </a:lnSpc>
              <a:buFont typeface="Arial"/>
              <a:buChar char="•"/>
              <a:defRPr sz="1575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現有資料會被備份取代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F25743D-3974-402C-B5A4-76DC098E4FF4}"/>
              </a:ext>
            </a:extLst>
          </p:cNvPr>
          <p:cNvSpPr>
            <a:spLocks noGrp="1"/>
          </p:cNvSpPr>
          <p:nvPr/>
        </p:nvSpPr>
        <p:spPr>
          <a:xfrm>
            <a:off x="666750" y="5695950"/>
            <a:ext cx="1085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最後再提出一個已查核過的問題，確認來源仍可開啟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02EAC4-872A-4A6E-96E4-934E7EFF826A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8424425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6E7F5C05-38BF-4065-9A65-477A2025A55E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先停止，再重新啟動服務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084407-4EB9-446D-8E44-9318240A781A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成果驗收 · 30/34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ADF2A8D-057A-4909-A96C-DD19841D9CDC}"/>
              </a:ext>
            </a:extLst>
          </p:cNvPr>
          <p:cNvSpPr>
            <a:spLocks noGrp="1"/>
          </p:cNvSpPr>
          <p:nvPr/>
        </p:nvSpPr>
        <p:spPr>
          <a:xfrm>
            <a:off x="609600" y="1409700"/>
            <a:ext cx="819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643AF9-B2F6-4F3F-A59E-E51A9A40AC4D}"/>
              </a:ext>
            </a:extLst>
          </p:cNvPr>
          <p:cNvSpPr>
            <a:spLocks noGrp="1"/>
          </p:cNvSpPr>
          <p:nvPr/>
        </p:nvSpPr>
        <p:spPr>
          <a:xfrm>
            <a:off x="1638300" y="1447800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啟動</a:t>
            </a:r>
            <a:r>
              <a:rPr sz="24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 Docker Desktop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7565ED-6400-43DA-AC1F-A9B08FA24305}"/>
              </a:ext>
            </a:extLst>
          </p:cNvPr>
          <p:cNvSpPr>
            <a:spLocks noGrp="1"/>
          </p:cNvSpPr>
          <p:nvPr/>
        </p:nvSpPr>
        <p:spPr>
          <a:xfrm>
            <a:off x="5219700" y="14859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 dirty="0" err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等待</a:t>
            </a:r>
            <a:r>
              <a:rPr sz="2000" b="0" dirty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 Engine running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678BFC-D500-432C-8831-48AE7A0EA736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10801350" cy="9525"/>
          </a:xfrm>
          <a:prstGeom prst="rect">
            <a:avLst/>
          </a:prstGeom>
          <a:solidFill>
            <a:srgbClr val="232323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BCB4D2-D1D6-4326-BA59-78DCF437A1F8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819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9A75DB-DDF7-47FA-B630-DC81A2E9AE49}"/>
              </a:ext>
            </a:extLst>
          </p:cNvPr>
          <p:cNvSpPr>
            <a:spLocks noGrp="1"/>
          </p:cNvSpPr>
          <p:nvPr/>
        </p:nvSpPr>
        <p:spPr>
          <a:xfrm>
            <a:off x="1638300" y="2400300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在控制程式選擇 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F7C495-6820-4325-9EDB-498667308C7E}"/>
              </a:ext>
            </a:extLst>
          </p:cNvPr>
          <p:cNvSpPr>
            <a:spLocks noGrp="1"/>
          </p:cNvSpPr>
          <p:nvPr/>
        </p:nvSpPr>
        <p:spPr>
          <a:xfrm>
            <a:off x="5219700" y="24384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停止 Ollama 與 Open WebUI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1DADC7-A2BA-428E-B992-7A426FDA73F9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10801350" cy="9525"/>
          </a:xfrm>
          <a:prstGeom prst="rect">
            <a:avLst/>
          </a:prstGeom>
          <a:solidFill>
            <a:srgbClr val="232323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48A2F95-84A9-4242-B9BC-813AF44B3775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819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B83C4C1-1694-41D2-B15A-00244E7BBD14}"/>
              </a:ext>
            </a:extLst>
          </p:cNvPr>
          <p:cNvSpPr>
            <a:spLocks noGrp="1"/>
          </p:cNvSpPr>
          <p:nvPr/>
        </p:nvSpPr>
        <p:spPr>
          <a:xfrm>
            <a:off x="1638300" y="3352800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再選擇 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F88B884-CF7E-4DE5-B12F-A4EB402507D9}"/>
              </a:ext>
            </a:extLst>
          </p:cNvPr>
          <p:cNvSpPr>
            <a:spLocks noGrp="1"/>
          </p:cNvSpPr>
          <p:nvPr/>
        </p:nvSpPr>
        <p:spPr>
          <a:xfrm>
            <a:off x="5219700" y="33909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重新啟動並等待瀏覽器開啟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300E13E-5A5E-4812-8815-8F3E1676B97A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10801350" cy="9525"/>
          </a:xfrm>
          <a:prstGeom prst="rect">
            <a:avLst/>
          </a:prstGeom>
          <a:solidFill>
            <a:srgbClr val="232323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398E5B9-D340-416B-AEDB-0599D0061E32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819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6894AA0-C962-4EAA-80E7-0C75544DB424}"/>
              </a:ext>
            </a:extLst>
          </p:cNvPr>
          <p:cNvSpPr>
            <a:spLocks noGrp="1"/>
          </p:cNvSpPr>
          <p:nvPr/>
        </p:nvSpPr>
        <p:spPr>
          <a:xfrm>
            <a:off x="1638300" y="4305300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選擇 2 查看狀態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9B372E2-A3EA-46E8-B92C-147A25B6A6D4}"/>
              </a:ext>
            </a:extLst>
          </p:cNvPr>
          <p:cNvSpPr>
            <a:spLocks noGrp="1"/>
          </p:cNvSpPr>
          <p:nvPr/>
        </p:nvSpPr>
        <p:spPr>
          <a:xfrm>
            <a:off x="5219700" y="43434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兩個服務都應顯示 Up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A2DFFF5-B30E-4087-A2D1-0300164A223F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08013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確認服務、模型與知識庫在重新啟動後仍可使用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20764BE-7CE6-49CB-9F96-51FEEAFF9562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3522168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C319878A-C70F-4799-9C85-137E79808D61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四項回答品質驗收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A10661-2A9D-4979-819A-1382494AC34C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成果驗收 · 31/34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42D96F1A-B893-420B-B018-EA99B9E915A8}"/>
              </a:ext>
            </a:extLst>
          </p:cNvPr>
          <p:cNvSpPr>
            <a:spLocks noGrp="1"/>
          </p:cNvSpPr>
          <p:nvPr/>
        </p:nvSpPr>
        <p:spPr>
          <a:xfrm>
            <a:off x="457200" y="1381125"/>
            <a:ext cx="5486400" cy="1809750"/>
          </a:xfrm>
          <a:prstGeom prst="roundRect">
            <a:avLst>
              <a:gd name="adj" fmla="val 6316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D535A9-2CC7-4031-8A67-AF4794DF606D}"/>
              </a:ext>
            </a:extLst>
          </p:cNvPr>
          <p:cNvSpPr>
            <a:spLocks noGrp="1"/>
          </p:cNvSpPr>
          <p:nvPr/>
        </p:nvSpPr>
        <p:spPr>
          <a:xfrm>
            <a:off x="723900" y="1628775"/>
            <a:ext cx="762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6CC080-517A-4929-883C-6D0D1FE18D68}"/>
              </a:ext>
            </a:extLst>
          </p:cNvPr>
          <p:cNvSpPr>
            <a:spLocks noGrp="1"/>
          </p:cNvSpPr>
          <p:nvPr/>
        </p:nvSpPr>
        <p:spPr>
          <a:xfrm>
            <a:off x="1657350" y="1647825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單一文件整理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A2567D0-3949-4176-8C71-8FDC7F48A8E8}"/>
              </a:ext>
            </a:extLst>
          </p:cNvPr>
          <p:cNvSpPr>
            <a:spLocks noGrp="1"/>
          </p:cNvSpPr>
          <p:nvPr/>
        </p:nvSpPr>
        <p:spPr>
          <a:xfrm>
            <a:off x="723900" y="2286000"/>
            <a:ext cx="4953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架構、摘要、結論與限制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0E5680DA-89AD-41E3-B757-7CB3031CF420}"/>
              </a:ext>
            </a:extLst>
          </p:cNvPr>
          <p:cNvSpPr>
            <a:spLocks noGrp="1"/>
          </p:cNvSpPr>
          <p:nvPr/>
        </p:nvSpPr>
        <p:spPr>
          <a:xfrm>
            <a:off x="6248400" y="1381125"/>
            <a:ext cx="5486400" cy="1809750"/>
          </a:xfrm>
          <a:prstGeom prst="roundRect">
            <a:avLst>
              <a:gd name="adj" fmla="val 6316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7B5CE3-8AF8-4634-AE31-B6DCA2C64329}"/>
              </a:ext>
            </a:extLst>
          </p:cNvPr>
          <p:cNvSpPr>
            <a:spLocks noGrp="1"/>
          </p:cNvSpPr>
          <p:nvPr/>
        </p:nvSpPr>
        <p:spPr>
          <a:xfrm>
            <a:off x="6515100" y="1628775"/>
            <a:ext cx="762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B6BC9E8-9F43-44BE-BCA7-F20146BCFD91}"/>
              </a:ext>
            </a:extLst>
          </p:cNvPr>
          <p:cNvSpPr>
            <a:spLocks noGrp="1"/>
          </p:cNvSpPr>
          <p:nvPr/>
        </p:nvSpPr>
        <p:spPr>
          <a:xfrm>
            <a:off x="7448550" y="1647825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跨文件比較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4AB8B1-3E09-4412-AFED-AA4F246F6261}"/>
              </a:ext>
            </a:extLst>
          </p:cNvPr>
          <p:cNvSpPr>
            <a:spLocks noGrp="1"/>
          </p:cNvSpPr>
          <p:nvPr/>
        </p:nvSpPr>
        <p:spPr>
          <a:xfrm>
            <a:off x="6515100" y="2286000"/>
            <a:ext cx="4953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共同、相反與特有內容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9E386404-1AC9-4ECE-8BAB-4A9FECE746E0}"/>
              </a:ext>
            </a:extLst>
          </p:cNvPr>
          <p:cNvSpPr>
            <a:spLocks noGrp="1"/>
          </p:cNvSpPr>
          <p:nvPr/>
        </p:nvSpPr>
        <p:spPr>
          <a:xfrm>
            <a:off x="457200" y="3571875"/>
            <a:ext cx="5486400" cy="1809750"/>
          </a:xfrm>
          <a:prstGeom prst="roundRect">
            <a:avLst>
              <a:gd name="adj" fmla="val 6316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F1FA330-1992-4E65-9719-89F42FD8A8EA}"/>
              </a:ext>
            </a:extLst>
          </p:cNvPr>
          <p:cNvSpPr>
            <a:spLocks noGrp="1"/>
          </p:cNvSpPr>
          <p:nvPr/>
        </p:nvSpPr>
        <p:spPr>
          <a:xfrm>
            <a:off x="723900" y="3819525"/>
            <a:ext cx="762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5D092EB-5AB0-4A24-AD50-52BE420DD64D}"/>
              </a:ext>
            </a:extLst>
          </p:cNvPr>
          <p:cNvSpPr>
            <a:spLocks noGrp="1"/>
          </p:cNvSpPr>
          <p:nvPr/>
        </p:nvSpPr>
        <p:spPr>
          <a:xfrm>
            <a:off x="1657350" y="3838575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證據與資料缺口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301E545-2BEC-4075-92B1-A0DBED555D3F}"/>
              </a:ext>
            </a:extLst>
          </p:cNvPr>
          <p:cNvSpPr>
            <a:spLocks noGrp="1"/>
          </p:cNvSpPr>
          <p:nvPr/>
        </p:nvSpPr>
        <p:spPr>
          <a:xfrm>
            <a:off x="723900" y="4476750"/>
            <a:ext cx="4953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支持程度與缺少資料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993DC0F1-D198-4C7E-9440-920905B28EA8}"/>
              </a:ext>
            </a:extLst>
          </p:cNvPr>
          <p:cNvSpPr>
            <a:spLocks noGrp="1"/>
          </p:cNvSpPr>
          <p:nvPr/>
        </p:nvSpPr>
        <p:spPr>
          <a:xfrm>
            <a:off x="6248400" y="3571875"/>
            <a:ext cx="5486400" cy="1809750"/>
          </a:xfrm>
          <a:prstGeom prst="roundRect">
            <a:avLst>
              <a:gd name="adj" fmla="val 6316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8C2FD4F-39F8-4D31-A098-2EB9ADADA0C8}"/>
              </a:ext>
            </a:extLst>
          </p:cNvPr>
          <p:cNvSpPr>
            <a:spLocks noGrp="1"/>
          </p:cNvSpPr>
          <p:nvPr/>
        </p:nvSpPr>
        <p:spPr>
          <a:xfrm>
            <a:off x="6515100" y="3819525"/>
            <a:ext cx="762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5AFD2C-33D5-4339-B8A5-BCF43CABF5C1}"/>
              </a:ext>
            </a:extLst>
          </p:cNvPr>
          <p:cNvSpPr>
            <a:spLocks noGrp="1"/>
          </p:cNvSpPr>
          <p:nvPr/>
        </p:nvSpPr>
        <p:spPr>
          <a:xfrm>
            <a:off x="7448550" y="3838575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主題整理與規劃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EA4598-CB14-47B5-9089-EF03CDFF21B9}"/>
              </a:ext>
            </a:extLst>
          </p:cNvPr>
          <p:cNvSpPr>
            <a:spLocks noGrp="1"/>
          </p:cNvSpPr>
          <p:nvPr/>
        </p:nvSpPr>
        <p:spPr>
          <a:xfrm>
            <a:off x="6515100" y="4476750"/>
            <a:ext cx="4953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文件依據與分析建議分開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F8241CE-357C-442A-AF36-A490A90EA3DA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6577743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98755104-AB4E-40C5-B51A-F36B7181A5C4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抽查來源，再測試離線使用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4A915BF-2385-47C5-8C55-264E527A39AC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成果驗收 · 32/34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FFF960C2-D6FD-4BFC-B48B-538D110E98AD}"/>
              </a:ext>
            </a:extLst>
          </p:cNvPr>
          <p:cNvSpPr>
            <a:spLocks noGrp="1"/>
          </p:cNvSpPr>
          <p:nvPr/>
        </p:nvSpPr>
        <p:spPr>
          <a:xfrm>
            <a:off x="457200" y="1352550"/>
            <a:ext cx="5486400" cy="4000500"/>
          </a:xfrm>
          <a:prstGeom prst="roundRect">
            <a:avLst>
              <a:gd name="adj" fmla="val 2857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D12A15-2C7D-4802-8675-B5C958E98C60}"/>
              </a:ext>
            </a:extLst>
          </p:cNvPr>
          <p:cNvSpPr>
            <a:spLocks noGrp="1"/>
          </p:cNvSpPr>
          <p:nvPr/>
        </p:nvSpPr>
        <p:spPr>
          <a:xfrm>
            <a:off x="723900" y="1657350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來源抽查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A2D2C-1F67-4E97-A891-49D7163C23F1}"/>
              </a:ext>
            </a:extLst>
          </p:cNvPr>
          <p:cNvSpPr>
            <a:spLocks noGrp="1"/>
          </p:cNvSpPr>
          <p:nvPr/>
        </p:nvSpPr>
        <p:spPr>
          <a:xfrm>
            <a:off x="723900" y="2114550"/>
            <a:ext cx="4953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至少三項重要主張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2DB81A5-5CAA-4A02-8793-C361C134B69B}"/>
              </a:ext>
            </a:extLst>
          </p:cNvPr>
          <p:cNvSpPr>
            <a:spLocks noGrp="1"/>
          </p:cNvSpPr>
          <p:nvPr/>
        </p:nvSpPr>
        <p:spPr>
          <a:xfrm>
            <a:off x="723900" y="2895600"/>
            <a:ext cx="49530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279400" indent="-152400">
              <a:lnSpc>
                <a:spcPct val="150000"/>
              </a:lnSpc>
              <a:buChar char="•"/>
              <a:defRPr sz="1575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dirty="0" err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記錄來源檔名與原文片段</a:t>
            </a:r>
            <a:endParaRPr sz="2000" dirty="0">
              <a:solidFill>
                <a:srgbClr val="C8C8C8"/>
              </a:solidFill>
              <a:latin typeface="Microsoft JhengHei"/>
              <a:ea typeface="Microsoft JhengHei"/>
              <a:cs typeface="Microsoft JhengHei"/>
            </a:endParaRPr>
          </a:p>
          <a:p>
            <a:pPr marL="279400" indent="-152400">
              <a:lnSpc>
                <a:spcPct val="150000"/>
              </a:lnSpc>
              <a:buChar char="•"/>
              <a:defRPr sz="1575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dirty="0" err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判定支持程度</a:t>
            </a:r>
            <a:endParaRPr sz="2000" dirty="0">
              <a:solidFill>
                <a:srgbClr val="C8C8C8"/>
              </a:solidFill>
              <a:latin typeface="Microsoft JhengHei"/>
              <a:ea typeface="Microsoft JhengHei"/>
              <a:cs typeface="Microsoft JhengHei"/>
            </a:endParaRPr>
          </a:p>
          <a:p>
            <a:pPr marL="279400" indent="-152400">
              <a:lnSpc>
                <a:spcPct val="150000"/>
              </a:lnSpc>
              <a:buChar char="•"/>
              <a:defRPr sz="1575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dirty="0" err="1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不支持就修改問題後重問</a:t>
            </a:r>
            <a:endParaRPr sz="2000" dirty="0">
              <a:solidFill>
                <a:srgbClr val="C8C8C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9EF4630-5774-40C6-BD1A-B26C441B239A}"/>
              </a:ext>
            </a:extLst>
          </p:cNvPr>
          <p:cNvSpPr>
            <a:spLocks noGrp="1"/>
          </p:cNvSpPr>
          <p:nvPr/>
        </p:nvSpPr>
        <p:spPr>
          <a:xfrm>
            <a:off x="6248400" y="1352550"/>
            <a:ext cx="5486400" cy="4000500"/>
          </a:xfrm>
          <a:prstGeom prst="roundRect">
            <a:avLst>
              <a:gd name="adj" fmla="val 2857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EABA74F-0119-4263-AEE2-973242BDC45F}"/>
              </a:ext>
            </a:extLst>
          </p:cNvPr>
          <p:cNvSpPr>
            <a:spLocks noGrp="1"/>
          </p:cNvSpPr>
          <p:nvPr/>
        </p:nvSpPr>
        <p:spPr>
          <a:xfrm>
            <a:off x="6515100" y="1657350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外網中斷測試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450A72-1990-4CD7-9861-68FECF85756A}"/>
              </a:ext>
            </a:extLst>
          </p:cNvPr>
          <p:cNvSpPr>
            <a:spLocks noGrp="1"/>
          </p:cNvSpPr>
          <p:nvPr/>
        </p:nvSpPr>
        <p:spPr>
          <a:xfrm>
            <a:off x="6515100" y="2114550"/>
            <a:ext cx="4953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確認基本功能仍可用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343E1A-58E1-473C-8B86-C786180BA1FC}"/>
              </a:ext>
            </a:extLst>
          </p:cNvPr>
          <p:cNvSpPr>
            <a:spLocks noGrp="1"/>
          </p:cNvSpPr>
          <p:nvPr/>
        </p:nvSpPr>
        <p:spPr>
          <a:xfrm>
            <a:off x="6515100" y="2895600"/>
            <a:ext cx="49530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279400" indent="-152400">
              <a:lnSpc>
                <a:spcPct val="150000"/>
              </a:lnSpc>
              <a:buChar char="•"/>
              <a:defRPr sz="1575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模型與文件已先下載完成</a:t>
            </a:r>
          </a:p>
          <a:p>
            <a:pPr marL="279400" indent="-152400">
              <a:lnSpc>
                <a:spcPct val="150000"/>
              </a:lnSpc>
              <a:buChar char="•"/>
              <a:defRPr sz="1575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中斷外網後重問已通過問題</a:t>
            </a:r>
          </a:p>
          <a:p>
            <a:pPr marL="279400" indent="-152400">
              <a:lnSpc>
                <a:spcPct val="150000"/>
              </a:lnSpc>
              <a:buChar char="•"/>
              <a:defRPr sz="1575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回答與來源仍能開啟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EBFBA0C-3CEC-4646-967C-C0F2A5F98CF8}"/>
              </a:ext>
            </a:extLst>
          </p:cNvPr>
          <p:cNvSpPr>
            <a:spLocks noGrp="1"/>
          </p:cNvSpPr>
          <p:nvPr/>
        </p:nvSpPr>
        <p:spPr>
          <a:xfrm>
            <a:off x="666750" y="5695950"/>
            <a:ext cx="1085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離線可用不代表所有 Open WebUI 擴充功能都能離線使用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E46B59-88D4-4AC6-85B2-31EFF714B170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777085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20D1899-8434-4294-B3B6-359992D067B7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完成個人 RAG 的完整循環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0C3FDC0-2F05-49EC-98C9-079443FE63BB}"/>
              </a:ext>
            </a:extLst>
          </p:cNvPr>
          <p:cNvSpPr>
            <a:spLocks noGrp="1"/>
          </p:cNvSpPr>
          <p:nvPr/>
        </p:nvSpPr>
        <p:spPr>
          <a:xfrm>
            <a:off x="9067800" y="352425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完成 · 34/34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25439D-4315-4516-89E7-0E9797AD9873}"/>
              </a:ext>
            </a:extLst>
          </p:cNvPr>
          <p:cNvSpPr>
            <a:spLocks noGrp="1"/>
          </p:cNvSpPr>
          <p:nvPr/>
        </p:nvSpPr>
        <p:spPr>
          <a:xfrm>
            <a:off x="857250" y="1447800"/>
            <a:ext cx="1047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325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文件 → 索引 → 檢索 → 回答 → 查核 → 更新 → 備份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BC332E3-CEAD-49AE-9F63-0D03CF579C85}"/>
              </a:ext>
            </a:extLst>
          </p:cNvPr>
          <p:cNvSpPr>
            <a:spLocks noGrp="1"/>
          </p:cNvSpPr>
          <p:nvPr/>
        </p:nvSpPr>
        <p:spPr>
          <a:xfrm>
            <a:off x="0" y="4829175"/>
            <a:ext cx="12192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500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已完成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50FE67-C99C-48BB-AA36-5F103CB6D999}"/>
              </a:ext>
            </a:extLst>
          </p:cNvPr>
          <p:cNvSpPr>
            <a:spLocks noGrp="1"/>
          </p:cNvSpPr>
          <p:nvPr/>
        </p:nvSpPr>
        <p:spPr>
          <a:xfrm>
            <a:off x="3599732" y="2376488"/>
            <a:ext cx="4992535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marL="342900" indent="-342900">
              <a:lnSpc>
                <a:spcPct val="150000"/>
              </a:lnSpc>
              <a:buFont typeface="Arial"/>
              <a:buChar char="•"/>
              <a:defRPr sz="18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建立可重複使用的個人知識庫</a:t>
            </a:r>
            <a:endParaRPr sz="2000" b="0" dirty="0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  <a:defRPr sz="18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比較</a:t>
            </a:r>
            <a:r>
              <a:rPr sz="2000" b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 Focused Retrieval 與 Full Context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  <a:defRPr sz="18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依原始文件查核回答與來源</a:t>
            </a:r>
            <a:endParaRPr sz="2000" b="0" dirty="0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  <a:defRPr sz="18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0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更新、備份、還原並完成驗收</a:t>
            </a:r>
            <a:endParaRPr sz="2000" b="0" dirty="0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3923F06-14A8-43AB-89D1-27918B1FCE25}"/>
              </a:ext>
            </a:extLst>
          </p:cNvPr>
          <p:cNvSpPr>
            <a:spLocks noGrp="1"/>
          </p:cNvSpPr>
          <p:nvPr/>
        </p:nvSpPr>
        <p:spPr>
          <a:xfrm>
            <a:off x="1619250" y="5619750"/>
            <a:ext cx="8953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本份內容到此為止：單元 05～09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35F6695-701A-4F50-816E-263F5760336E}"/>
              </a:ext>
            </a:extLst>
          </p:cNvPr>
          <p:cNvSpPr>
            <a:spLocks noGrp="1"/>
          </p:cNvSpPr>
          <p:nvPr/>
        </p:nvSpPr>
        <p:spPr>
          <a:xfrm>
            <a:off x="400050" y="6534150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AA0701B-A63F-41E3-8A96-9E7FF0B9A4BE}"/>
              </a:ext>
            </a:extLst>
          </p:cNvPr>
          <p:cNvSpPr>
            <a:spLocks noGrp="1"/>
          </p:cNvSpPr>
          <p:nvPr/>
        </p:nvSpPr>
        <p:spPr>
          <a:xfrm>
            <a:off x="11353800" y="653415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4115895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Local AI Dark">
      <a:dk1>
        <a:srgbClr val="000000"/>
      </a:dk1>
      <a:lt1>
        <a:srgbClr val="FFFFFF"/>
      </a:lt1>
      <a:dk2>
        <a:srgbClr val="111111"/>
      </a:dk2>
      <a:lt2>
        <a:srgbClr val="C8C8C8"/>
      </a:lt2>
      <a:accent1>
        <a:srgbClr val="FF4709"/>
      </a:accent1>
      <a:accent2>
        <a:srgbClr val="C8C8C8"/>
      </a:accent2>
      <a:accent3>
        <a:srgbClr val="737373"/>
      </a:accent3>
      <a:accent4>
        <a:srgbClr val="FFFFFF"/>
      </a:accent4>
      <a:accent5>
        <a:srgbClr val="2B2B2B"/>
      </a:accent5>
      <a:accent6>
        <a:srgbClr val="5A5A5A"/>
      </a:accent6>
      <a:hlink>
        <a:srgbClr val="FF4709"/>
      </a:hlink>
      <a:folHlink>
        <a:srgbClr val="FF8A63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Local AI Dar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Local AI Dark">
      <a:dk1>
        <a:srgbClr val="000000"/>
      </a:dk1>
      <a:lt1>
        <a:srgbClr val="FFFFFF"/>
      </a:lt1>
      <a:dk2>
        <a:srgbClr val="111111"/>
      </a:dk2>
      <a:lt2>
        <a:srgbClr val="C8C8C8"/>
      </a:lt2>
      <a:accent1>
        <a:srgbClr val="FF4709"/>
      </a:accent1>
      <a:accent2>
        <a:srgbClr val="C8C8C8"/>
      </a:accent2>
      <a:accent3>
        <a:srgbClr val="737373"/>
      </a:accent3>
      <a:accent4>
        <a:srgbClr val="FFFFFF"/>
      </a:accent4>
      <a:accent5>
        <a:srgbClr val="2B2B2B"/>
      </a:accent5>
      <a:accent6>
        <a:srgbClr val="5A5A5A"/>
      </a:accent6>
      <a:hlink>
        <a:srgbClr val="FF4709"/>
      </a:hlink>
      <a:folHlink>
        <a:srgbClr val="FF8A63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Local AI Dar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848</Words>
  <Application>Microsoft Office PowerPoint</Application>
  <DocSecurity>0</DocSecurity>
  <PresentationFormat>寬螢幕</PresentationFormat>
  <Paragraphs>437</Paragraphs>
  <Slides>39</Slides>
  <Notes>39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39</vt:i4>
      </vt:variant>
    </vt:vector>
  </HeadingPairs>
  <TitlesOfParts>
    <vt:vector size="43" baseType="lpstr">
      <vt:lpstr>Aptos</vt:lpstr>
      <vt:lpstr>Microsoft JhengHei</vt:lpstr>
      <vt:lpstr>Arial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ETLAB_NB_202204</cp:lastModifiedBy>
  <cp:revision>2</cp:revision>
  <dcterms:created xsi:type="dcterms:W3CDTF">2026-10-02T08:40:26Z</dcterms:created>
  <dcterms:modified xsi:type="dcterms:W3CDTF">2026-10-02T09:00:37Z</dcterms:modified>
</cp:coreProperties>
</file>